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9"/>
  </p:notesMasterIdLst>
  <p:sldIdLst>
    <p:sldId id="462" r:id="rId2"/>
    <p:sldId id="463" r:id="rId3"/>
    <p:sldId id="357" r:id="rId4"/>
    <p:sldId id="309" r:id="rId5"/>
    <p:sldId id="359" r:id="rId6"/>
    <p:sldId id="409" r:id="rId7"/>
    <p:sldId id="512" r:id="rId8"/>
    <p:sldId id="413" r:id="rId9"/>
    <p:sldId id="408" r:id="rId10"/>
    <p:sldId id="510" r:id="rId11"/>
    <p:sldId id="506" r:id="rId12"/>
    <p:sldId id="509" r:id="rId13"/>
    <p:sldId id="507" r:id="rId14"/>
    <p:sldId id="424" r:id="rId15"/>
    <p:sldId id="508" r:id="rId16"/>
    <p:sldId id="511" r:id="rId17"/>
    <p:sldId id="505"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81" userDrawn="1">
          <p15:clr>
            <a:srgbClr val="A4A3A4"/>
          </p15:clr>
        </p15:guide>
        <p15:guide id="2" pos="383" userDrawn="1">
          <p15:clr>
            <a:srgbClr val="A4A3A4"/>
          </p15:clr>
        </p15:guide>
        <p15:guide id="3" orient="horz" pos="1459" userDrawn="1">
          <p15:clr>
            <a:srgbClr val="A4A3A4"/>
          </p15:clr>
        </p15:guide>
        <p15:guide id="4" pos="72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4C89"/>
    <a:srgbClr val="4E81C0"/>
    <a:srgbClr val="313D51"/>
    <a:srgbClr val="433D3C"/>
    <a:srgbClr val="C00000"/>
    <a:srgbClr val="F0F2F4"/>
    <a:srgbClr val="0B2C4F"/>
    <a:srgbClr val="213555"/>
    <a:srgbClr val="2636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6314" autoAdjust="0"/>
  </p:normalViewPr>
  <p:slideViewPr>
    <p:cSldViewPr snapToGrid="0" showGuides="1">
      <p:cViewPr varScale="1">
        <p:scale>
          <a:sx n="153" d="100"/>
          <a:sy n="153" d="100"/>
        </p:scale>
        <p:origin x="432" y="138"/>
      </p:cViewPr>
      <p:guideLst>
        <p:guide pos="4181"/>
        <p:guide pos="383"/>
        <p:guide orient="horz" pos="1459"/>
        <p:guide pos="7266"/>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B2E5B-1A0B-4F0A-9547-4FB8D13F2C5F}" type="datetimeFigureOut">
              <a:rPr lang="zh-CN" altLang="en-US" smtClean="0"/>
              <a:t>2024/6/28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3CF89-91F4-45FB-A589-58532703FCA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7</a:t>
            </a:fld>
            <a:endParaRPr lang="zh-CN" altLang="en-US"/>
          </a:p>
        </p:txBody>
      </p:sp>
    </p:spTree>
    <p:extLst>
      <p:ext uri="{BB962C8B-B14F-4D97-AF65-F5344CB8AC3E}">
        <p14:creationId xmlns:p14="http://schemas.microsoft.com/office/powerpoint/2010/main" val="749833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10</a:t>
            </a:fld>
            <a:endParaRPr lang="zh-CN" altLang="en-US"/>
          </a:p>
        </p:txBody>
      </p:sp>
    </p:spTree>
    <p:extLst>
      <p:ext uri="{BB962C8B-B14F-4D97-AF65-F5344CB8AC3E}">
        <p14:creationId xmlns:p14="http://schemas.microsoft.com/office/powerpoint/2010/main" val="3023135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11</a:t>
            </a:fld>
            <a:endParaRPr lang="zh-CN" altLang="en-US"/>
          </a:p>
        </p:txBody>
      </p:sp>
    </p:spTree>
    <p:extLst>
      <p:ext uri="{BB962C8B-B14F-4D97-AF65-F5344CB8AC3E}">
        <p14:creationId xmlns:p14="http://schemas.microsoft.com/office/powerpoint/2010/main" val="97539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12</a:t>
            </a:fld>
            <a:endParaRPr lang="zh-CN" altLang="en-US"/>
          </a:p>
        </p:txBody>
      </p:sp>
    </p:spTree>
    <p:extLst>
      <p:ext uri="{BB962C8B-B14F-4D97-AF65-F5344CB8AC3E}">
        <p14:creationId xmlns:p14="http://schemas.microsoft.com/office/powerpoint/2010/main" val="736628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t>13</a:t>
            </a:fld>
            <a:endParaRPr lang="zh-CN" altLang="en-US"/>
          </a:p>
        </p:txBody>
      </p:sp>
    </p:spTree>
    <p:extLst>
      <p:ext uri="{BB962C8B-B14F-4D97-AF65-F5344CB8AC3E}">
        <p14:creationId xmlns:p14="http://schemas.microsoft.com/office/powerpoint/2010/main" val="1524950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15</a:t>
            </a:fld>
            <a:endParaRPr lang="zh-CN" altLang="en-US"/>
          </a:p>
        </p:txBody>
      </p:sp>
    </p:spTree>
    <p:extLst>
      <p:ext uri="{BB962C8B-B14F-4D97-AF65-F5344CB8AC3E}">
        <p14:creationId xmlns:p14="http://schemas.microsoft.com/office/powerpoint/2010/main" val="1435223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16</a:t>
            </a:fld>
            <a:endParaRPr lang="zh-CN" altLang="en-US"/>
          </a:p>
        </p:txBody>
      </p:sp>
    </p:spTree>
    <p:extLst>
      <p:ext uri="{BB962C8B-B14F-4D97-AF65-F5344CB8AC3E}">
        <p14:creationId xmlns:p14="http://schemas.microsoft.com/office/powerpoint/2010/main" val="3460423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17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logo多色"/>
          <p:cNvPicPr>
            <a:picLocks noChangeAspect="1"/>
          </p:cNvPicPr>
          <p:nvPr userDrawn="1"/>
        </p:nvPicPr>
        <p:blipFill>
          <a:blip r:embed="rId3"/>
          <a:srcRect t="86583" r="71837"/>
          <a:stretch>
            <a:fillRect/>
          </a:stretch>
        </p:blipFill>
        <p:spPr>
          <a:xfrm>
            <a:off x="10278745" y="578485"/>
            <a:ext cx="1519555" cy="581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a:t>单击编辑标题</a:t>
            </a:r>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pic>
        <p:nvPicPr>
          <p:cNvPr id="3" name="图片 2" descr="logo多色"/>
          <p:cNvPicPr>
            <a:picLocks noChangeAspect="1"/>
          </p:cNvPicPr>
          <p:nvPr userDrawn="1">
            <p:custDataLst>
              <p:tags r:id="rId1"/>
            </p:custDataLst>
          </p:nvPr>
        </p:nvPicPr>
        <p:blipFill>
          <a:blip r:embed="rId4"/>
          <a:srcRect t="86583" r="71837"/>
          <a:stretch>
            <a:fillRect/>
          </a:stretch>
        </p:blipFill>
        <p:spPr>
          <a:xfrm>
            <a:off x="10278745" y="578485"/>
            <a:ext cx="1519555" cy="581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6" name="矩形 5"/>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logo多色"/>
          <p:cNvPicPr>
            <a:picLocks noChangeAspect="1"/>
          </p:cNvPicPr>
          <p:nvPr userDrawn="1">
            <p:custDataLst>
              <p:tags r:id="rId1"/>
            </p:custDataLst>
          </p:nvPr>
        </p:nvPicPr>
        <p:blipFill>
          <a:blip r:embed="rId4"/>
          <a:srcRect t="86583" r="71837"/>
          <a:stretch>
            <a:fillRect/>
          </a:stretch>
        </p:blipFill>
        <p:spPr>
          <a:xfrm>
            <a:off x="10278745" y="578485"/>
            <a:ext cx="1519555" cy="581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logo多色"/>
          <p:cNvPicPr>
            <a:picLocks noChangeAspect="1"/>
          </p:cNvPicPr>
          <p:nvPr userDrawn="1">
            <p:custDataLst>
              <p:tags r:id="rId1"/>
            </p:custDataLst>
          </p:nvPr>
        </p:nvPicPr>
        <p:blipFill>
          <a:blip r:embed="rId4"/>
          <a:srcRect t="86583" r="71837"/>
          <a:stretch>
            <a:fillRect/>
          </a:stretch>
        </p:blipFill>
        <p:spPr>
          <a:xfrm>
            <a:off x="10278745" y="578485"/>
            <a:ext cx="1519555" cy="581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logo多色"/>
          <p:cNvPicPr>
            <a:picLocks noChangeAspect="1"/>
          </p:cNvPicPr>
          <p:nvPr userDrawn="1">
            <p:custDataLst>
              <p:tags r:id="rId6"/>
            </p:custDataLst>
          </p:nvPr>
        </p:nvPicPr>
        <p:blipFill>
          <a:blip r:embed="rId7"/>
          <a:srcRect t="86583" r="71837"/>
          <a:stretch>
            <a:fillRect/>
          </a:stretch>
        </p:blipFill>
        <p:spPr>
          <a:xfrm>
            <a:off x="10278745" y="578485"/>
            <a:ext cx="1519555" cy="5810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notesSlide" Target="../notesSlides/notesSlide3.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23.xml"/><Relationship Id="rId7" Type="http://schemas.openxmlformats.org/officeDocument/2006/relationships/slideLayout" Target="../slideLayouts/slideLayout4.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3.png"/><Relationship Id="rId4" Type="http://schemas.openxmlformats.org/officeDocument/2006/relationships/tags" Target="../tags/tag24.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04"/>
            <a:ext cx="12192000" cy="6852181"/>
          </a:xfrm>
          <a:prstGeom prst="rect">
            <a:avLst/>
          </a:prstGeom>
        </p:spPr>
      </p:pic>
      <p:sp>
        <p:nvSpPr>
          <p:cNvPr id="3" name="矩形 2"/>
          <p:cNvSpPr/>
          <p:nvPr/>
        </p:nvSpPr>
        <p:spPr>
          <a:xfrm>
            <a:off x="1837690" y="1159510"/>
            <a:ext cx="8517890" cy="4582795"/>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3"/>
          <p:cNvSpPr/>
          <p:nvPr/>
        </p:nvSpPr>
        <p:spPr>
          <a:xfrm>
            <a:off x="2037715" y="1341120"/>
            <a:ext cx="8117840" cy="4165600"/>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p:nvSpPr>
        <p:spPr>
          <a:xfrm>
            <a:off x="2545080" y="2485390"/>
            <a:ext cx="7103110" cy="829945"/>
          </a:xfrm>
          <a:prstGeom prst="rect">
            <a:avLst/>
          </a:prstGeom>
          <a:noFill/>
        </p:spPr>
        <p:txBody>
          <a:bodyPr wrap="square" rtlCol="0">
            <a:spAutoFit/>
            <a:scene3d>
              <a:camera prst="orthographicFront"/>
              <a:lightRig rig="threePt" dir="t"/>
            </a:scene3d>
            <a:sp3d contourW="12700"/>
          </a:bodyPr>
          <a:lstStyle/>
          <a:p>
            <a:pPr algn="ctr">
              <a:defRPr/>
            </a:pPr>
            <a:r>
              <a:rPr lang="en-US" sz="4800" dirty="0" err="1">
                <a:solidFill>
                  <a:schemeClr val="bg1"/>
                </a:solidFill>
                <a:ea typeface="字由点字倔强黑" panose="00020600040101010101" charset="-122"/>
                <a:sym typeface="+mn-ea"/>
              </a:rPr>
              <a:t>期末项目</a:t>
            </a:r>
            <a:r>
              <a:rPr lang="zh-CN" altLang="en-US" sz="4800" dirty="0">
                <a:solidFill>
                  <a:schemeClr val="bg1"/>
                </a:solidFill>
                <a:ea typeface="字由点字倔强黑" panose="00020600040101010101" charset="-122"/>
                <a:sym typeface="+mn-ea"/>
              </a:rPr>
              <a:t>展示</a:t>
            </a:r>
            <a:endParaRPr lang="en-US" sz="4800" b="1" dirty="0">
              <a:solidFill>
                <a:schemeClr val="bg1"/>
              </a:solidFill>
              <a:latin typeface="思源黑体" panose="020B0500000000000000" pitchFamily="34" charset="-122"/>
              <a:ea typeface="字由点字倔强黑" panose="00020600040101010101" charset="-122"/>
              <a:sym typeface="+mn-ea"/>
            </a:endParaRPr>
          </a:p>
        </p:txBody>
      </p:sp>
      <p:sp>
        <p:nvSpPr>
          <p:cNvPr id="6" name="PA_圆角矩形 31"/>
          <p:cNvSpPr/>
          <p:nvPr>
            <p:custDataLst>
              <p:tags r:id="rId1"/>
            </p:custDataLst>
          </p:nvPr>
        </p:nvSpPr>
        <p:spPr>
          <a:xfrm>
            <a:off x="2292985" y="4812030"/>
            <a:ext cx="4406265" cy="41148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223762"/>
                </a:solidFill>
                <a:latin typeface="+mn-ea"/>
                <a:sym typeface="+mn-ea"/>
              </a:rPr>
              <a:t>答辩人：</a:t>
            </a:r>
            <a:r>
              <a:rPr lang="en-US" altLang="zh-CN" sz="1400" b="1" dirty="0">
                <a:solidFill>
                  <a:srgbClr val="223762"/>
                </a:solidFill>
                <a:latin typeface="+mn-ea"/>
                <a:sym typeface="+mn-ea"/>
              </a:rPr>
              <a:t>ZYH</a:t>
            </a:r>
            <a:r>
              <a:rPr lang="zh-CN" altLang="en-US" sz="1400" b="1" dirty="0">
                <a:solidFill>
                  <a:srgbClr val="223762"/>
                </a:solidFill>
                <a:latin typeface="+mn-ea"/>
                <a:sym typeface="+mn-ea"/>
              </a:rPr>
              <a:t> 人工智能</a:t>
            </a:r>
            <a:r>
              <a:rPr lang="en-US" altLang="zh-CN" sz="1400" b="1" dirty="0">
                <a:solidFill>
                  <a:srgbClr val="223762"/>
                </a:solidFill>
                <a:latin typeface="+mn-ea"/>
                <a:sym typeface="+mn-ea"/>
              </a:rPr>
              <a:t>1</a:t>
            </a:r>
            <a:r>
              <a:rPr lang="zh-CN" altLang="en-US" sz="1400" b="1" dirty="0">
                <a:solidFill>
                  <a:srgbClr val="223762"/>
                </a:solidFill>
                <a:latin typeface="+mn-ea"/>
                <a:sym typeface="+mn-ea"/>
              </a:rPr>
              <a:t>班 第</a:t>
            </a:r>
            <a:r>
              <a:rPr lang="en-US" altLang="zh-CN" sz="1400" b="1" dirty="0">
                <a:solidFill>
                  <a:srgbClr val="223762"/>
                </a:solidFill>
                <a:latin typeface="+mn-ea"/>
                <a:sym typeface="+mn-ea"/>
              </a:rPr>
              <a:t>17</a:t>
            </a:r>
            <a:r>
              <a:rPr lang="zh-CN" altLang="en-US" sz="1400" b="1" dirty="0">
                <a:solidFill>
                  <a:srgbClr val="223762"/>
                </a:solidFill>
                <a:latin typeface="+mn-ea"/>
                <a:sym typeface="+mn-ea"/>
              </a:rPr>
              <a:t>组 </a:t>
            </a:r>
            <a:endParaRPr lang="zh-CN" altLang="en-US" sz="1400" b="1" dirty="0">
              <a:solidFill>
                <a:srgbClr val="223762"/>
              </a:solidFill>
              <a:latin typeface="+mn-ea"/>
            </a:endParaRPr>
          </a:p>
        </p:txBody>
      </p:sp>
      <p:sp>
        <p:nvSpPr>
          <p:cNvPr id="15" name="矩形 259"/>
          <p:cNvSpPr>
            <a:spLocks noChangeArrowheads="1"/>
          </p:cNvSpPr>
          <p:nvPr/>
        </p:nvSpPr>
        <p:spPr bwMode="auto">
          <a:xfrm>
            <a:off x="1928990" y="3750090"/>
            <a:ext cx="833501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ctr" fontAlgn="base">
              <a:lnSpc>
                <a:spcPct val="120000"/>
              </a:lnSpc>
              <a:spcBef>
                <a:spcPct val="0"/>
              </a:spcBef>
              <a:spcAft>
                <a:spcPct val="0"/>
              </a:spcAft>
              <a:buFont typeface="Arial" panose="020B0604020202020204" pitchFamily="34" charset="0"/>
              <a:buNone/>
            </a:pPr>
            <a:r>
              <a:rPr lang="en-US" sz="1800" dirty="0" err="1">
                <a:solidFill>
                  <a:schemeClr val="bg1"/>
                </a:solidFill>
                <a:ea typeface="字由点字倔强黑" panose="00020600040101010101" charset="-122"/>
                <a:sym typeface="+mn-ea"/>
              </a:rPr>
              <a:t>数字图像处理</a:t>
            </a:r>
            <a:endParaRPr lang="en-US" altLang="zh-CN" sz="1800" dirty="0">
              <a:solidFill>
                <a:schemeClr val="bg1"/>
              </a:solidFill>
              <a:latin typeface="思源黑体" panose="020B0500000000000000" pitchFamily="34" charset="-122"/>
              <a:ea typeface="字由点字倔强黑" panose="00020600040101010101" charset="-122"/>
              <a:sym typeface="+mn-ea"/>
            </a:endParaRPr>
          </a:p>
        </p:txBody>
      </p:sp>
      <p:sp>
        <p:nvSpPr>
          <p:cNvPr id="17" name="PA_圆角矩形 31"/>
          <p:cNvSpPr/>
          <p:nvPr>
            <p:custDataLst>
              <p:tags r:id="rId2"/>
            </p:custDataLst>
          </p:nvPr>
        </p:nvSpPr>
        <p:spPr>
          <a:xfrm>
            <a:off x="7266940" y="4810760"/>
            <a:ext cx="2480945" cy="4127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223762"/>
                </a:solidFill>
                <a:latin typeface="+mn-ea"/>
              </a:rPr>
              <a:t>指导老师：杜娟，齐雯</a:t>
            </a:r>
          </a:p>
        </p:txBody>
      </p:sp>
      <p:grpSp>
        <p:nvGrpSpPr>
          <p:cNvPr id="20" name="组合 19"/>
          <p:cNvGrpSpPr/>
          <p:nvPr/>
        </p:nvGrpSpPr>
        <p:grpSpPr>
          <a:xfrm>
            <a:off x="5291455" y="467360"/>
            <a:ext cx="1610360" cy="1582420"/>
            <a:chOff x="8760" y="720"/>
            <a:chExt cx="2536" cy="2492"/>
          </a:xfrm>
        </p:grpSpPr>
        <p:grpSp>
          <p:nvGrpSpPr>
            <p:cNvPr id="7" name="组合 6"/>
            <p:cNvGrpSpPr/>
            <p:nvPr/>
          </p:nvGrpSpPr>
          <p:grpSpPr>
            <a:xfrm>
              <a:off x="8760" y="720"/>
              <a:ext cx="2536" cy="2492"/>
              <a:chOff x="5387350" y="978500"/>
              <a:chExt cx="1390484" cy="1390482"/>
            </a:xfrm>
          </p:grpSpPr>
          <p:sp>
            <p:nvSpPr>
              <p:cNvPr id="8" name="椭圆 7"/>
              <p:cNvSpPr/>
              <p:nvPr/>
            </p:nvSpPr>
            <p:spPr>
              <a:xfrm>
                <a:off x="5387350" y="978500"/>
                <a:ext cx="1390484" cy="1390482"/>
              </a:xfrm>
              <a:prstGeom prst="ellipse">
                <a:avLst/>
              </a:prstGeom>
              <a:solidFill>
                <a:srgbClr val="244C89"/>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 name="椭圆 12"/>
              <p:cNvSpPr/>
              <p:nvPr/>
            </p:nvSpPr>
            <p:spPr>
              <a:xfrm>
                <a:off x="5482497" y="1078924"/>
                <a:ext cx="1195789" cy="1195788"/>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grpSp>
        <p:pic>
          <p:nvPicPr>
            <p:cNvPr id="18" name="图片 17" descr="校徽"/>
            <p:cNvPicPr>
              <a:picLocks noChangeAspect="1"/>
            </p:cNvPicPr>
            <p:nvPr/>
          </p:nvPicPr>
          <p:blipFill>
            <a:blip r:embed="rId5"/>
            <a:stretch>
              <a:fillRect/>
            </a:stretch>
          </p:blipFill>
          <p:spPr>
            <a:xfrm>
              <a:off x="8883" y="845"/>
              <a:ext cx="2277" cy="2277"/>
            </a:xfrm>
            <a:prstGeom prst="ellipse">
              <a:avLst/>
            </a:prstGeom>
          </p:spPr>
        </p:pic>
      </p:gr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54" name="矩形 53"/>
          <p:cNvSpPr/>
          <p:nvPr/>
        </p:nvSpPr>
        <p:spPr>
          <a:xfrm>
            <a:off x="2997200" y="126365"/>
            <a:ext cx="8780780" cy="6525260"/>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6" name="组合 25"/>
          <p:cNvGrpSpPr/>
          <p:nvPr/>
        </p:nvGrpSpPr>
        <p:grpSpPr>
          <a:xfrm>
            <a:off x="901019" y="1228068"/>
            <a:ext cx="3045965" cy="1575682"/>
            <a:chOff x="944370" y="632414"/>
            <a:chExt cx="2981065" cy="1542110"/>
          </a:xfrm>
        </p:grpSpPr>
        <p:sp>
          <p:nvSpPr>
            <p:cNvPr id="24" name="矩形 23"/>
            <p:cNvSpPr/>
            <p:nvPr/>
          </p:nvSpPr>
          <p:spPr>
            <a:xfrm>
              <a:off x="1065396" y="632414"/>
              <a:ext cx="2860039" cy="1542110"/>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p:nvPr/>
          </p:nvSpPr>
          <p:spPr>
            <a:xfrm>
              <a:off x="1194797" y="749939"/>
              <a:ext cx="2601237" cy="1307060"/>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p:cNvSpPr txBox="1"/>
            <p:nvPr/>
          </p:nvSpPr>
          <p:spPr>
            <a:xfrm>
              <a:off x="944370" y="1388963"/>
              <a:ext cx="2792383" cy="612542"/>
            </a:xfrm>
            <a:prstGeom prst="rect">
              <a:avLst/>
            </a:prstGeom>
            <a:noFill/>
          </p:spPr>
          <p:txBody>
            <a:bodyPr wrap="square" rtlCol="0">
              <a:spAutoFit/>
              <a:scene3d>
                <a:camera prst="orthographicFront"/>
                <a:lightRig rig="threePt" dir="t"/>
              </a:scene3d>
              <a:sp3d contourW="12700"/>
            </a:bodyPr>
            <a:lstStyle/>
            <a:p>
              <a:pPr algn="r">
                <a:defRPr/>
              </a:pPr>
              <a:r>
                <a:rPr lang="en-US" altLang="zh-CN" sz="3465" dirty="0">
                  <a:solidFill>
                    <a:schemeClr val="bg1"/>
                  </a:solidFill>
                  <a:latin typeface="思源黑体" panose="020B0500000000000000" pitchFamily="34" charset="-122"/>
                  <a:ea typeface="思源黑体" panose="020B0500000000000000" pitchFamily="34" charset="-122"/>
                </a:rPr>
                <a:t>CONTENT</a:t>
              </a:r>
              <a:endParaRPr lang="zh-CN" altLang="en-US" sz="3465" dirty="0">
                <a:solidFill>
                  <a:schemeClr val="bg1"/>
                </a:solidFill>
                <a:latin typeface="思源黑体" panose="020B0500000000000000" pitchFamily="34" charset="-122"/>
                <a:ea typeface="思源黑体" panose="020B0500000000000000" pitchFamily="34" charset="-122"/>
              </a:endParaRPr>
            </a:p>
          </p:txBody>
        </p:sp>
        <p:sp>
          <p:nvSpPr>
            <p:cNvPr id="32" name="文本框 31"/>
            <p:cNvSpPr txBox="1"/>
            <p:nvPr/>
          </p:nvSpPr>
          <p:spPr>
            <a:xfrm>
              <a:off x="2229307" y="849517"/>
              <a:ext cx="1490820" cy="652579"/>
            </a:xfrm>
            <a:prstGeom prst="rect">
              <a:avLst/>
            </a:prstGeom>
            <a:noFill/>
          </p:spPr>
          <p:txBody>
            <a:bodyPr wrap="square" rtlCol="0">
              <a:spAutoFit/>
              <a:scene3d>
                <a:camera prst="orthographicFront"/>
                <a:lightRig rig="threePt" dir="t"/>
              </a:scene3d>
              <a:sp3d contourW="12700"/>
            </a:bodyPr>
            <a:lstStyle/>
            <a:p>
              <a:pPr algn="r">
                <a:defRPr/>
              </a:pPr>
              <a:r>
                <a:rPr lang="zh-CN" altLang="en-US" sz="3735" b="1" dirty="0">
                  <a:solidFill>
                    <a:schemeClr val="bg1"/>
                  </a:solidFill>
                  <a:latin typeface="思源黑体" panose="020B0500000000000000" pitchFamily="34" charset="-122"/>
                  <a:ea typeface="思源黑体" panose="020B0500000000000000" pitchFamily="34" charset="-122"/>
                </a:rPr>
                <a:t>目 录</a:t>
              </a:r>
            </a:p>
          </p:txBody>
        </p:sp>
      </p:grpSp>
      <p:grpSp>
        <p:nvGrpSpPr>
          <p:cNvPr id="30" name="组合 29"/>
          <p:cNvGrpSpPr/>
          <p:nvPr/>
        </p:nvGrpSpPr>
        <p:grpSpPr>
          <a:xfrm>
            <a:off x="5344149" y="349453"/>
            <a:ext cx="4890672" cy="576262"/>
            <a:chOff x="5714354" y="1664538"/>
            <a:chExt cx="4890672" cy="576262"/>
          </a:xfrm>
        </p:grpSpPr>
        <p:grpSp>
          <p:nvGrpSpPr>
            <p:cNvPr id="37" name="组合 36"/>
            <p:cNvGrpSpPr/>
            <p:nvPr/>
          </p:nvGrpSpPr>
          <p:grpSpPr>
            <a:xfrm>
              <a:off x="5714354" y="1664538"/>
              <a:ext cx="4752975" cy="576262"/>
              <a:chOff x="4753236" y="2069839"/>
              <a:chExt cx="4752975" cy="576262"/>
            </a:xfrm>
          </p:grpSpPr>
          <p:grpSp>
            <p:nvGrpSpPr>
              <p:cNvPr id="52" name="组合 21"/>
              <p:cNvGrpSpPr/>
              <p:nvPr/>
            </p:nvGrpSpPr>
            <p:grpSpPr bwMode="auto">
              <a:xfrm>
                <a:off x="4753236" y="2069839"/>
                <a:ext cx="576262" cy="576262"/>
                <a:chOff x="6170389" y="2579551"/>
                <a:chExt cx="576064" cy="576064"/>
              </a:xfrm>
            </p:grpSpPr>
            <p:sp>
              <p:nvSpPr>
                <p:cNvPr id="57" name="圆角矩形 10"/>
                <p:cNvSpPr>
                  <a:spLocks noChangeArrowheads="1"/>
                </p:cNvSpPr>
                <p:nvPr/>
              </p:nvSpPr>
              <p:spPr bwMode="auto">
                <a:xfrm>
                  <a:off x="6170389" y="2579551"/>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58" name="Freeform 27"/>
                <p:cNvSpPr>
                  <a:spLocks noEditPoints="1"/>
                </p:cNvSpPr>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55" name="Rectangle 14"/>
              <p:cNvSpPr>
                <a:spLocks noChangeArrowheads="1"/>
              </p:cNvSpPr>
              <p:nvPr/>
            </p:nvSpPr>
            <p:spPr bwMode="auto">
              <a:xfrm>
                <a:off x="5581874" y="2201661"/>
                <a:ext cx="739804" cy="270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1</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56" name="TextBox 59"/>
              <p:cNvSpPr txBox="1">
                <a:spLocks noChangeArrowheads="1"/>
              </p:cNvSpPr>
              <p:nvPr/>
            </p:nvSpPr>
            <p:spPr bwMode="auto">
              <a:xfrm>
                <a:off x="6566161" y="2152389"/>
                <a:ext cx="2940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总体概述</a:t>
                </a:r>
              </a:p>
            </p:txBody>
          </p:sp>
        </p:grpSp>
        <p:grpSp>
          <p:nvGrpSpPr>
            <p:cNvPr id="38" name="组合 37"/>
            <p:cNvGrpSpPr/>
            <p:nvPr/>
          </p:nvGrpSpPr>
          <p:grpSpPr>
            <a:xfrm flipH="1">
              <a:off x="6433491" y="2147214"/>
              <a:ext cx="4171535" cy="80892"/>
              <a:chOff x="2272062" y="2596259"/>
              <a:chExt cx="4173708" cy="80934"/>
            </a:xfrm>
          </p:grpSpPr>
          <p:cxnSp>
            <p:nvCxnSpPr>
              <p:cNvPr id="39" name="直接连接符 38"/>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51" name="矩形 50"/>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59" name="组合 58"/>
          <p:cNvGrpSpPr/>
          <p:nvPr/>
        </p:nvGrpSpPr>
        <p:grpSpPr>
          <a:xfrm>
            <a:off x="5344149" y="1652155"/>
            <a:ext cx="4890672" cy="575945"/>
            <a:chOff x="5714354" y="2522443"/>
            <a:chExt cx="4890672" cy="576263"/>
          </a:xfrm>
        </p:grpSpPr>
        <p:grpSp>
          <p:nvGrpSpPr>
            <p:cNvPr id="60" name="组合 59"/>
            <p:cNvGrpSpPr/>
            <p:nvPr/>
          </p:nvGrpSpPr>
          <p:grpSpPr>
            <a:xfrm>
              <a:off x="5714354" y="2522443"/>
              <a:ext cx="4229100" cy="576263"/>
              <a:chOff x="4753236" y="2862001"/>
              <a:chExt cx="4229100" cy="576263"/>
            </a:xfrm>
          </p:grpSpPr>
          <p:grpSp>
            <p:nvGrpSpPr>
              <p:cNvPr id="64" name="组合 22"/>
              <p:cNvGrpSpPr/>
              <p:nvPr/>
            </p:nvGrpSpPr>
            <p:grpSpPr bwMode="auto">
              <a:xfrm>
                <a:off x="4753236" y="2862001"/>
                <a:ext cx="576262" cy="576263"/>
                <a:chOff x="6170389" y="3371639"/>
                <a:chExt cx="576064" cy="576064"/>
              </a:xfrm>
            </p:grpSpPr>
            <p:sp>
              <p:nvSpPr>
                <p:cNvPr id="67" name="圆角矩形 11"/>
                <p:cNvSpPr>
                  <a:spLocks noChangeArrowheads="1"/>
                </p:cNvSpPr>
                <p:nvPr/>
              </p:nvSpPr>
              <p:spPr bwMode="auto">
                <a:xfrm>
                  <a:off x="6170389" y="3371639"/>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68"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65" name="Rectangle 14"/>
              <p:cNvSpPr>
                <a:spLocks noChangeArrowheads="1"/>
              </p:cNvSpPr>
              <p:nvPr/>
            </p:nvSpPr>
            <p:spPr bwMode="auto">
              <a:xfrm>
                <a:off x="5581873" y="2990149"/>
                <a:ext cx="771397" cy="27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2</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66" name="TextBox 59"/>
              <p:cNvSpPr txBox="1">
                <a:spLocks noChangeArrowheads="1"/>
              </p:cNvSpPr>
              <p:nvPr/>
            </p:nvSpPr>
            <p:spPr bwMode="auto">
              <a:xfrm>
                <a:off x="6566161" y="2941376"/>
                <a:ext cx="2416175" cy="460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问题一</a:t>
                </a:r>
              </a:p>
            </p:txBody>
          </p:sp>
        </p:grpSp>
        <p:grpSp>
          <p:nvGrpSpPr>
            <p:cNvPr id="61" name="组合 60"/>
            <p:cNvGrpSpPr/>
            <p:nvPr/>
          </p:nvGrpSpPr>
          <p:grpSpPr>
            <a:xfrm flipH="1">
              <a:off x="6433491" y="3012031"/>
              <a:ext cx="4171535" cy="80892"/>
              <a:chOff x="2272062" y="2596259"/>
              <a:chExt cx="4173708" cy="80934"/>
            </a:xfrm>
          </p:grpSpPr>
          <p:cxnSp>
            <p:nvCxnSpPr>
              <p:cNvPr id="62" name="直接连接符 6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63" name="矩形 6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69" name="组合 68"/>
          <p:cNvGrpSpPr/>
          <p:nvPr/>
        </p:nvGrpSpPr>
        <p:grpSpPr>
          <a:xfrm>
            <a:off x="5344149" y="2898660"/>
            <a:ext cx="4968875" cy="575945"/>
            <a:chOff x="5714354" y="3382138"/>
            <a:chExt cx="4968875" cy="576262"/>
          </a:xfrm>
        </p:grpSpPr>
        <p:grpSp>
          <p:nvGrpSpPr>
            <p:cNvPr id="70" name="组合 69"/>
            <p:cNvGrpSpPr/>
            <p:nvPr/>
          </p:nvGrpSpPr>
          <p:grpSpPr>
            <a:xfrm>
              <a:off x="5714354" y="3382138"/>
              <a:ext cx="4968875" cy="576262"/>
              <a:chOff x="4753236" y="3654164"/>
              <a:chExt cx="4968875" cy="576262"/>
            </a:xfrm>
          </p:grpSpPr>
          <p:grpSp>
            <p:nvGrpSpPr>
              <p:cNvPr id="74" name="组合 23"/>
              <p:cNvGrpSpPr/>
              <p:nvPr/>
            </p:nvGrpSpPr>
            <p:grpSpPr bwMode="auto">
              <a:xfrm>
                <a:off x="4753236" y="3654164"/>
                <a:ext cx="576262" cy="576262"/>
                <a:chOff x="6170389" y="4163727"/>
                <a:chExt cx="576064" cy="576064"/>
              </a:xfrm>
            </p:grpSpPr>
            <p:sp>
              <p:nvSpPr>
                <p:cNvPr id="77" name="圆角矩形 12"/>
                <p:cNvSpPr>
                  <a:spLocks noChangeArrowheads="1"/>
                </p:cNvSpPr>
                <p:nvPr/>
              </p:nvSpPr>
              <p:spPr bwMode="auto">
                <a:xfrm>
                  <a:off x="6170389" y="4163727"/>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78" name="Freeform 12"/>
                <p:cNvSpPr>
                  <a:spLocks noEditPoints="1"/>
                </p:cNvSpPr>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75" name="Rectangle 14"/>
              <p:cNvSpPr>
                <a:spLocks noChangeArrowheads="1"/>
              </p:cNvSpPr>
              <p:nvPr/>
            </p:nvSpPr>
            <p:spPr bwMode="auto">
              <a:xfrm>
                <a:off x="5581874" y="3827546"/>
                <a:ext cx="739804" cy="27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3</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76" name="TextBox 59"/>
              <p:cNvSpPr txBox="1">
                <a:spLocks noChangeArrowheads="1"/>
              </p:cNvSpPr>
              <p:nvPr/>
            </p:nvSpPr>
            <p:spPr bwMode="auto">
              <a:xfrm>
                <a:off x="6566161" y="3744651"/>
                <a:ext cx="3155950" cy="46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问题二</a:t>
                </a:r>
              </a:p>
            </p:txBody>
          </p:sp>
        </p:grpSp>
        <p:grpSp>
          <p:nvGrpSpPr>
            <p:cNvPr id="71" name="组合 70"/>
            <p:cNvGrpSpPr/>
            <p:nvPr/>
          </p:nvGrpSpPr>
          <p:grpSpPr>
            <a:xfrm flipH="1">
              <a:off x="6433491" y="3876848"/>
              <a:ext cx="4171535" cy="80892"/>
              <a:chOff x="2272062" y="2596259"/>
              <a:chExt cx="4173708" cy="80934"/>
            </a:xfrm>
          </p:grpSpPr>
          <p:cxnSp>
            <p:nvCxnSpPr>
              <p:cNvPr id="72" name="直接连接符 7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73" name="矩形 7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89" name="组合 88"/>
          <p:cNvGrpSpPr/>
          <p:nvPr/>
        </p:nvGrpSpPr>
        <p:grpSpPr>
          <a:xfrm>
            <a:off x="5344149" y="4245799"/>
            <a:ext cx="4890672" cy="578485"/>
            <a:chOff x="5714354" y="5108504"/>
            <a:chExt cx="4890672" cy="578870"/>
          </a:xfrm>
        </p:grpSpPr>
        <p:grpSp>
          <p:nvGrpSpPr>
            <p:cNvPr id="90" name="组合 89"/>
            <p:cNvGrpSpPr/>
            <p:nvPr/>
          </p:nvGrpSpPr>
          <p:grpSpPr>
            <a:xfrm>
              <a:off x="5714354" y="5108504"/>
              <a:ext cx="4752975" cy="576261"/>
              <a:chOff x="4753236" y="5238484"/>
              <a:chExt cx="4752975" cy="576261"/>
            </a:xfrm>
          </p:grpSpPr>
          <p:grpSp>
            <p:nvGrpSpPr>
              <p:cNvPr id="94" name="组合 25"/>
              <p:cNvGrpSpPr/>
              <p:nvPr/>
            </p:nvGrpSpPr>
            <p:grpSpPr bwMode="auto">
              <a:xfrm>
                <a:off x="4753236" y="5238484"/>
                <a:ext cx="576262" cy="576261"/>
                <a:chOff x="6170389" y="5747908"/>
                <a:chExt cx="576064" cy="576064"/>
              </a:xfrm>
            </p:grpSpPr>
            <p:sp>
              <p:nvSpPr>
                <p:cNvPr id="97" name="圆角矩形 14"/>
                <p:cNvSpPr>
                  <a:spLocks noChangeArrowheads="1"/>
                </p:cNvSpPr>
                <p:nvPr/>
              </p:nvSpPr>
              <p:spPr bwMode="auto">
                <a:xfrm>
                  <a:off x="6170389" y="5747908"/>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98" name="Freeform 28"/>
                <p:cNvSpPr>
                  <a:spLocks noEditPoints="1"/>
                </p:cNvSpPr>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95" name="Rectangle 14"/>
              <p:cNvSpPr>
                <a:spLocks noChangeArrowheads="1"/>
              </p:cNvSpPr>
              <p:nvPr/>
            </p:nvSpPr>
            <p:spPr bwMode="auto">
              <a:xfrm>
                <a:off x="5581874" y="5350047"/>
                <a:ext cx="827070" cy="27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4</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6" name="TextBox 59"/>
              <p:cNvSpPr txBox="1">
                <a:spLocks noChangeArrowheads="1"/>
              </p:cNvSpPr>
              <p:nvPr/>
            </p:nvSpPr>
            <p:spPr bwMode="auto">
              <a:xfrm>
                <a:off x="6566161" y="5309926"/>
                <a:ext cx="2940050" cy="43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网页交互界面展示</a:t>
                </a:r>
              </a:p>
            </p:txBody>
          </p:sp>
        </p:grpSp>
        <p:grpSp>
          <p:nvGrpSpPr>
            <p:cNvPr id="91" name="组合 90"/>
            <p:cNvGrpSpPr/>
            <p:nvPr/>
          </p:nvGrpSpPr>
          <p:grpSpPr>
            <a:xfrm flipH="1">
              <a:off x="6433491" y="5606482"/>
              <a:ext cx="4171535" cy="80892"/>
              <a:chOff x="2272062" y="2596259"/>
              <a:chExt cx="4173708" cy="80934"/>
            </a:xfrm>
          </p:grpSpPr>
          <p:cxnSp>
            <p:nvCxnSpPr>
              <p:cNvPr id="92" name="直接连接符 9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93" name="矩形 9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sp>
        <p:nvSpPr>
          <p:cNvPr id="2" name="文本框 1"/>
          <p:cNvSpPr txBox="1"/>
          <p:nvPr/>
        </p:nvSpPr>
        <p:spPr>
          <a:xfrm>
            <a:off x="7384026" y="827314"/>
            <a:ext cx="3144637"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grpSp>
        <p:nvGrpSpPr>
          <p:cNvPr id="3" name="组合 2">
            <a:extLst>
              <a:ext uri="{FF2B5EF4-FFF2-40B4-BE49-F238E27FC236}">
                <a16:creationId xmlns:a16="http://schemas.microsoft.com/office/drawing/2014/main" id="{5E9F7FCC-73E5-5E83-0ABF-B460681948A4}"/>
              </a:ext>
            </a:extLst>
          </p:cNvPr>
          <p:cNvGrpSpPr/>
          <p:nvPr/>
        </p:nvGrpSpPr>
        <p:grpSpPr>
          <a:xfrm>
            <a:off x="5344149" y="5597287"/>
            <a:ext cx="4890672" cy="578485"/>
            <a:chOff x="5714354" y="5108504"/>
            <a:chExt cx="4890672" cy="578870"/>
          </a:xfrm>
        </p:grpSpPr>
        <p:grpSp>
          <p:nvGrpSpPr>
            <p:cNvPr id="4" name="组合 3">
              <a:extLst>
                <a:ext uri="{FF2B5EF4-FFF2-40B4-BE49-F238E27FC236}">
                  <a16:creationId xmlns:a16="http://schemas.microsoft.com/office/drawing/2014/main" id="{89271B94-F33D-C84E-6673-70734B751094}"/>
                </a:ext>
              </a:extLst>
            </p:cNvPr>
            <p:cNvGrpSpPr/>
            <p:nvPr/>
          </p:nvGrpSpPr>
          <p:grpSpPr>
            <a:xfrm>
              <a:off x="5714354" y="5108504"/>
              <a:ext cx="4752975" cy="576261"/>
              <a:chOff x="4753236" y="5238484"/>
              <a:chExt cx="4752975" cy="576261"/>
            </a:xfrm>
          </p:grpSpPr>
          <p:grpSp>
            <p:nvGrpSpPr>
              <p:cNvPr id="8" name="组合 25">
                <a:extLst>
                  <a:ext uri="{FF2B5EF4-FFF2-40B4-BE49-F238E27FC236}">
                    <a16:creationId xmlns:a16="http://schemas.microsoft.com/office/drawing/2014/main" id="{0B5F27BE-85C7-8C56-4F4E-E937F1315183}"/>
                  </a:ext>
                </a:extLst>
              </p:cNvPr>
              <p:cNvGrpSpPr/>
              <p:nvPr/>
            </p:nvGrpSpPr>
            <p:grpSpPr bwMode="auto">
              <a:xfrm>
                <a:off x="4753236" y="5238484"/>
                <a:ext cx="576262" cy="576261"/>
                <a:chOff x="6170389" y="5747908"/>
                <a:chExt cx="576064" cy="576064"/>
              </a:xfrm>
            </p:grpSpPr>
            <p:sp>
              <p:nvSpPr>
                <p:cNvPr id="11" name="圆角矩形 14">
                  <a:extLst>
                    <a:ext uri="{FF2B5EF4-FFF2-40B4-BE49-F238E27FC236}">
                      <a16:creationId xmlns:a16="http://schemas.microsoft.com/office/drawing/2014/main" id="{5B86F186-2852-95EC-FE46-8AF0DE59DA5E}"/>
                    </a:ext>
                  </a:extLst>
                </p:cNvPr>
                <p:cNvSpPr>
                  <a:spLocks noChangeArrowheads="1"/>
                </p:cNvSpPr>
                <p:nvPr/>
              </p:nvSpPr>
              <p:spPr bwMode="auto">
                <a:xfrm>
                  <a:off x="6170389" y="5747908"/>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12" name="Freeform 28">
                  <a:extLst>
                    <a:ext uri="{FF2B5EF4-FFF2-40B4-BE49-F238E27FC236}">
                      <a16:creationId xmlns:a16="http://schemas.microsoft.com/office/drawing/2014/main" id="{B01FAFD3-EC9F-9DCF-40D5-0B4043FE8FF8}"/>
                    </a:ext>
                  </a:extLst>
                </p:cNvPr>
                <p:cNvSpPr>
                  <a:spLocks noEditPoints="1"/>
                </p:cNvSpPr>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9" name="Rectangle 14">
                <a:extLst>
                  <a:ext uri="{FF2B5EF4-FFF2-40B4-BE49-F238E27FC236}">
                    <a16:creationId xmlns:a16="http://schemas.microsoft.com/office/drawing/2014/main" id="{292732F2-A0F5-E112-1657-969D535F9779}"/>
                  </a:ext>
                </a:extLst>
              </p:cNvPr>
              <p:cNvSpPr>
                <a:spLocks noChangeArrowheads="1"/>
              </p:cNvSpPr>
              <p:nvPr/>
            </p:nvSpPr>
            <p:spPr bwMode="auto">
              <a:xfrm>
                <a:off x="5581874" y="5350047"/>
                <a:ext cx="827070" cy="27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a:solidFill>
                      <a:srgbClr val="313D51"/>
                    </a:solidFill>
                    <a:latin typeface="思源黑体" panose="020B0500000000000000" pitchFamily="34" charset="-122"/>
                    <a:ea typeface="思源黑体" panose="020B0500000000000000" pitchFamily="34" charset="-122"/>
                  </a:rPr>
                  <a:t>PART </a:t>
                </a:r>
                <a:r>
                  <a:rPr lang="en-US" altLang="zh-CN" sz="1600" b="1" dirty="0">
                    <a:solidFill>
                      <a:srgbClr val="313D51"/>
                    </a:solidFill>
                    <a:latin typeface="思源黑体" panose="020B0500000000000000" pitchFamily="34" charset="-122"/>
                    <a:ea typeface="思源黑体" panose="020B0500000000000000" pitchFamily="34" charset="-122"/>
                  </a:rPr>
                  <a:t>5</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 name="TextBox 59">
                <a:extLst>
                  <a:ext uri="{FF2B5EF4-FFF2-40B4-BE49-F238E27FC236}">
                    <a16:creationId xmlns:a16="http://schemas.microsoft.com/office/drawing/2014/main" id="{CBD6B655-2184-C2F2-BDD8-F52315BA2FDE}"/>
                  </a:ext>
                </a:extLst>
              </p:cNvPr>
              <p:cNvSpPr txBox="1">
                <a:spLocks noChangeArrowheads="1"/>
              </p:cNvSpPr>
              <p:nvPr/>
            </p:nvSpPr>
            <p:spPr bwMode="auto">
              <a:xfrm>
                <a:off x="6566161" y="5309926"/>
                <a:ext cx="2940050" cy="430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None/>
                </a:pPr>
                <a:r>
                  <a:rPr lang="zh-CN" altLang="en-US" b="1" dirty="0">
                    <a:solidFill>
                      <a:srgbClr val="313D51"/>
                    </a:solidFill>
                    <a:latin typeface="思源黑体" panose="020B0500000000000000" pitchFamily="34" charset="-122"/>
                    <a:ea typeface="思源黑体" panose="020B0500000000000000" pitchFamily="34" charset="-122"/>
                  </a:rPr>
                  <a:t>结果分析</a:t>
                </a:r>
              </a:p>
            </p:txBody>
          </p:sp>
        </p:grpSp>
        <p:grpSp>
          <p:nvGrpSpPr>
            <p:cNvPr id="5" name="组合 4">
              <a:extLst>
                <a:ext uri="{FF2B5EF4-FFF2-40B4-BE49-F238E27FC236}">
                  <a16:creationId xmlns:a16="http://schemas.microsoft.com/office/drawing/2014/main" id="{B89AE70B-1A01-70D2-8A5A-160CEDDEEE15}"/>
                </a:ext>
              </a:extLst>
            </p:cNvPr>
            <p:cNvGrpSpPr/>
            <p:nvPr/>
          </p:nvGrpSpPr>
          <p:grpSpPr>
            <a:xfrm flipH="1">
              <a:off x="6433491" y="5606482"/>
              <a:ext cx="4171535" cy="80892"/>
              <a:chOff x="2272062" y="2596259"/>
              <a:chExt cx="4173708" cy="80934"/>
            </a:xfrm>
          </p:grpSpPr>
          <p:cxnSp>
            <p:nvCxnSpPr>
              <p:cNvPr id="6" name="直接连接符 5">
                <a:extLst>
                  <a:ext uri="{FF2B5EF4-FFF2-40B4-BE49-F238E27FC236}">
                    <a16:creationId xmlns:a16="http://schemas.microsoft.com/office/drawing/2014/main" id="{18A4212B-5EE2-607F-7B91-26EE3AFDDCBD}"/>
                  </a:ext>
                </a:extLst>
              </p:cNvPr>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7" name="矩形 6">
                <a:extLst>
                  <a:ext uri="{FF2B5EF4-FFF2-40B4-BE49-F238E27FC236}">
                    <a16:creationId xmlns:a16="http://schemas.microsoft.com/office/drawing/2014/main" id="{E0E041DA-0E52-5C9F-B2A7-C513F933E922}"/>
                  </a:ext>
                </a:extLst>
              </p:cNvPr>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3051312" y="2443843"/>
            <a:ext cx="1311578"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01</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8350"/>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总体概述</a:t>
            </a:r>
          </a:p>
        </p:txBody>
      </p:sp>
      <p:cxnSp>
        <p:nvCxnSpPr>
          <p:cNvPr id="27" name="直接连接符 26"/>
          <p:cNvCxnSpPr/>
          <p:nvPr/>
        </p:nvCxnSpPr>
        <p:spPr>
          <a:xfrm>
            <a:off x="455244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a:sym typeface="+mn-ea"/>
              </a:rPr>
              <a:t>总体概述</a:t>
            </a:r>
            <a:endParaRPr lang="zh-CN" altLang="en-US" dirty="0"/>
          </a:p>
        </p:txBody>
      </p:sp>
      <p:grpSp>
        <p:nvGrpSpPr>
          <p:cNvPr id="57" name="组合 56"/>
          <p:cNvGrpSpPr/>
          <p:nvPr>
            <p:custDataLst>
              <p:tags r:id="rId1"/>
            </p:custDataLst>
          </p:nvPr>
        </p:nvGrpSpPr>
        <p:grpSpPr>
          <a:xfrm>
            <a:off x="1303662" y="3051810"/>
            <a:ext cx="3836035" cy="2780030"/>
            <a:chOff x="1823648" y="2061912"/>
            <a:chExt cx="3835748" cy="2834872"/>
          </a:xfrm>
        </p:grpSpPr>
        <p:sp>
          <p:nvSpPr>
            <p:cNvPr id="58" name="矩形 57"/>
            <p:cNvSpPr/>
            <p:nvPr>
              <p:custDataLst>
                <p:tags r:id="rId9"/>
              </p:custDataLst>
            </p:nvPr>
          </p:nvSpPr>
          <p:spPr bwMode="auto">
            <a:xfrm>
              <a:off x="1823648" y="2190122"/>
              <a:ext cx="3835748" cy="2706662"/>
            </a:xfrm>
            <a:prstGeom prst="rect">
              <a:avLst/>
            </a:prstGeom>
            <a:solidFill>
              <a:schemeClr val="bg1">
                <a:lumMod val="95000"/>
              </a:schemeClr>
            </a:solidFill>
            <a:ln>
              <a:solidFill>
                <a:schemeClr val="bg2">
                  <a:lumMod val="85000"/>
                </a:schemeClr>
              </a:solidFill>
            </a:ln>
          </p:spPr>
          <p:txBody>
            <a:bodyPr vert="horz" wrap="square" lIns="91440" tIns="45720" rIns="91440" bIns="45720" numCol="1" anchor="t" anchorCtr="0" compatLnSpc="1"/>
            <a:lstStyle/>
            <a:p>
              <a:pPr>
                <a:lnSpc>
                  <a:spcPct val="120000"/>
                </a:lnSpc>
              </a:pPr>
              <a:endParaRPr lang="zh-CN" altLang="en-US" sz="1200">
                <a:solidFill>
                  <a:schemeClr val="bg1"/>
                </a:solidFill>
              </a:endParaRPr>
            </a:p>
          </p:txBody>
        </p:sp>
        <p:sp>
          <p:nvSpPr>
            <p:cNvPr id="59" name="Freeform 6"/>
            <p:cNvSpPr/>
            <p:nvPr>
              <p:custDataLst>
                <p:tags r:id="rId10"/>
              </p:custDataLst>
            </p:nvPr>
          </p:nvSpPr>
          <p:spPr bwMode="auto">
            <a:xfrm>
              <a:off x="1965587"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200">
                <a:solidFill>
                  <a:schemeClr val="bg2"/>
                </a:solidFill>
              </a:endParaRPr>
            </a:p>
          </p:txBody>
        </p:sp>
        <p:sp>
          <p:nvSpPr>
            <p:cNvPr id="95" name="Freeform 7"/>
            <p:cNvSpPr/>
            <p:nvPr>
              <p:custDataLst>
                <p:tags r:id="rId11"/>
              </p:custDataLst>
            </p:nvPr>
          </p:nvSpPr>
          <p:spPr bwMode="auto">
            <a:xfrm>
              <a:off x="2203505"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200"/>
            </a:p>
          </p:txBody>
        </p:sp>
        <p:sp>
          <p:nvSpPr>
            <p:cNvPr id="96" name="矩形 95"/>
            <p:cNvSpPr/>
            <p:nvPr>
              <p:custDataLst>
                <p:tags r:id="rId12"/>
              </p:custDataLst>
            </p:nvPr>
          </p:nvSpPr>
          <p:spPr>
            <a:xfrm>
              <a:off x="3229454" y="2176512"/>
              <a:ext cx="1559560" cy="544570"/>
            </a:xfrm>
            <a:prstGeom prst="rect">
              <a:avLst/>
            </a:prstGeom>
          </p:spPr>
          <p:txBody>
            <a:bodyPr wrap="square">
              <a:spAutoFit/>
            </a:bodyPr>
            <a:lstStyle/>
            <a:p>
              <a:pPr algn="just">
                <a:lnSpc>
                  <a:spcPct val="120000"/>
                </a:lnSpc>
              </a:pPr>
              <a:r>
                <a:rPr lang="zh-CN" altLang="en-US" sz="2400" b="1" spc="300" dirty="0">
                  <a:solidFill>
                    <a:schemeClr val="bg2"/>
                  </a:solidFill>
                  <a:latin typeface="+mj-ea"/>
                  <a:ea typeface="+mj-ea"/>
                </a:rPr>
                <a:t>问题一</a:t>
              </a:r>
            </a:p>
          </p:txBody>
        </p:sp>
        <p:sp>
          <p:nvSpPr>
            <p:cNvPr id="97" name="TextBox 10"/>
            <p:cNvSpPr txBox="1"/>
            <p:nvPr>
              <p:custDataLst>
                <p:tags r:id="rId13"/>
              </p:custDataLst>
            </p:nvPr>
          </p:nvSpPr>
          <p:spPr>
            <a:xfrm>
              <a:off x="2001976" y="2907570"/>
              <a:ext cx="3097147" cy="1557930"/>
            </a:xfrm>
            <a:prstGeom prst="rect">
              <a:avLst/>
            </a:prstGeom>
            <a:noFill/>
          </p:spPr>
          <p:txBody>
            <a:bodyPr wrap="square" rtlCol="0">
              <a:spAutoFit/>
            </a:bodyPr>
            <a:lstStyle/>
            <a:p>
              <a:pPr indent="457200" algn="just">
                <a:lnSpc>
                  <a:spcPct val="150000"/>
                </a:lnSpc>
              </a:pPr>
              <a:r>
                <a:rPr lang="en-US" altLang="zh-CN" sz="1600" b="1" dirty="0">
                  <a:solidFill>
                    <a:schemeClr val="tx1"/>
                  </a:solidFill>
                  <a:latin typeface="+mn-ea"/>
                </a:rPr>
                <a:t>1. </a:t>
              </a:r>
              <a:r>
                <a:rPr lang="zh-CN" altLang="en-US" sz="1600" dirty="0">
                  <a:solidFill>
                    <a:srgbClr val="212121"/>
                  </a:solidFill>
                  <a:ea typeface="思源黑体" panose="020B0500000000000000" pitchFamily="34" charset="-122"/>
                  <a:sym typeface="+mn-ea"/>
                </a:rPr>
                <a:t>转换成</a:t>
              </a:r>
              <a:r>
                <a:rPr lang="en-US" altLang="zh-CN" sz="1600" dirty="0">
                  <a:solidFill>
                    <a:srgbClr val="212121"/>
                  </a:solidFill>
                  <a:ea typeface="思源黑体" panose="020B0500000000000000" pitchFamily="34" charset="-122"/>
                  <a:sym typeface="+mn-ea"/>
                </a:rPr>
                <a:t>HSV</a:t>
              </a:r>
              <a:r>
                <a:rPr lang="zh-CN" altLang="en-US" sz="1600" dirty="0">
                  <a:solidFill>
                    <a:srgbClr val="212121"/>
                  </a:solidFill>
                  <a:ea typeface="思源黑体" panose="020B0500000000000000" pitchFamily="34" charset="-122"/>
                  <a:sym typeface="+mn-ea"/>
                </a:rPr>
                <a:t>色彩空间</a:t>
              </a:r>
              <a:endParaRPr lang="en-US" altLang="zh-CN" sz="1600" b="1" dirty="0">
                <a:solidFill>
                  <a:schemeClr val="tx1"/>
                </a:solidFill>
                <a:latin typeface="+mn-ea"/>
              </a:endParaRPr>
            </a:p>
            <a:p>
              <a:pPr indent="457200" algn="just">
                <a:lnSpc>
                  <a:spcPct val="150000"/>
                </a:lnSpc>
              </a:pPr>
              <a:r>
                <a:rPr lang="en-US" altLang="zh-CN" sz="1600" b="1" dirty="0">
                  <a:solidFill>
                    <a:schemeClr val="tx1"/>
                  </a:solidFill>
                  <a:latin typeface="+mn-ea"/>
                </a:rPr>
                <a:t>2. V</a:t>
              </a:r>
              <a:r>
                <a:rPr lang="zh-CN" altLang="en-US" sz="1600" b="1" dirty="0">
                  <a:solidFill>
                    <a:schemeClr val="tx1"/>
                  </a:solidFill>
                  <a:latin typeface="+mn-ea"/>
                </a:rPr>
                <a:t>通道直方图均衡化</a:t>
              </a:r>
            </a:p>
            <a:p>
              <a:pPr indent="457200" algn="just">
                <a:lnSpc>
                  <a:spcPct val="150000"/>
                </a:lnSpc>
              </a:pPr>
              <a:r>
                <a:rPr lang="en-US" altLang="zh-CN" sz="1600" b="1" dirty="0">
                  <a:solidFill>
                    <a:schemeClr val="tx1"/>
                  </a:solidFill>
                  <a:latin typeface="+mn-ea"/>
                </a:rPr>
                <a:t>3. V</a:t>
              </a:r>
              <a:r>
                <a:rPr lang="zh-CN" altLang="en-US" sz="1600" b="1" dirty="0">
                  <a:solidFill>
                    <a:schemeClr val="tx1"/>
                  </a:solidFill>
                  <a:latin typeface="+mn-ea"/>
                </a:rPr>
                <a:t>通道合并回</a:t>
              </a:r>
              <a:r>
                <a:rPr lang="en-US" altLang="zh-CN" sz="1600" b="1" dirty="0">
                  <a:solidFill>
                    <a:schemeClr val="tx1"/>
                  </a:solidFill>
                  <a:latin typeface="+mn-ea"/>
                </a:rPr>
                <a:t>HSV</a:t>
              </a:r>
              <a:r>
                <a:rPr lang="zh-CN" altLang="en-US" sz="1600" b="1" dirty="0">
                  <a:solidFill>
                    <a:schemeClr val="tx1"/>
                  </a:solidFill>
                  <a:latin typeface="+mn-ea"/>
                </a:rPr>
                <a:t>图像</a:t>
              </a:r>
              <a:endParaRPr lang="en-US" altLang="zh-CN" sz="1600" b="1" dirty="0">
                <a:solidFill>
                  <a:schemeClr val="tx1"/>
                </a:solidFill>
                <a:latin typeface="+mn-ea"/>
              </a:endParaRPr>
            </a:p>
            <a:p>
              <a:pPr indent="457200" algn="just">
                <a:lnSpc>
                  <a:spcPct val="150000"/>
                </a:lnSpc>
              </a:pPr>
              <a:r>
                <a:rPr lang="en-US" altLang="zh-CN" sz="1600" b="1" dirty="0">
                  <a:solidFill>
                    <a:schemeClr val="tx1"/>
                  </a:solidFill>
                  <a:latin typeface="+mn-ea"/>
                </a:rPr>
                <a:t>4. HSV</a:t>
              </a:r>
              <a:r>
                <a:rPr lang="zh-CN" altLang="en-US" sz="1600" b="1" dirty="0">
                  <a:solidFill>
                    <a:schemeClr val="tx1"/>
                  </a:solidFill>
                  <a:latin typeface="+mn-ea"/>
                </a:rPr>
                <a:t>图像转换回</a:t>
              </a:r>
              <a:r>
                <a:rPr lang="en-US" altLang="zh-CN" sz="1600" b="1" dirty="0">
                  <a:solidFill>
                    <a:schemeClr val="tx1"/>
                  </a:solidFill>
                  <a:latin typeface="+mn-ea"/>
                </a:rPr>
                <a:t>RGB</a:t>
              </a:r>
              <a:r>
                <a:rPr lang="zh-CN" altLang="en-US" sz="1600" b="1" dirty="0">
                  <a:solidFill>
                    <a:schemeClr val="tx1"/>
                  </a:solidFill>
                  <a:latin typeface="+mn-ea"/>
                </a:rPr>
                <a:t>图像</a:t>
              </a:r>
            </a:p>
          </p:txBody>
        </p:sp>
      </p:grpSp>
      <p:grpSp>
        <p:nvGrpSpPr>
          <p:cNvPr id="98" name="组合 97"/>
          <p:cNvGrpSpPr/>
          <p:nvPr>
            <p:custDataLst>
              <p:tags r:id="rId2"/>
            </p:custDataLst>
          </p:nvPr>
        </p:nvGrpSpPr>
        <p:grpSpPr>
          <a:xfrm>
            <a:off x="7116445" y="3051810"/>
            <a:ext cx="3836035" cy="2869175"/>
            <a:chOff x="1823648" y="2061912"/>
            <a:chExt cx="3836035" cy="2937251"/>
          </a:xfrm>
        </p:grpSpPr>
        <p:sp>
          <p:nvSpPr>
            <p:cNvPr id="99" name="矩形 98"/>
            <p:cNvSpPr/>
            <p:nvPr>
              <p:custDataLst>
                <p:tags r:id="rId4"/>
              </p:custDataLst>
            </p:nvPr>
          </p:nvSpPr>
          <p:spPr bwMode="auto">
            <a:xfrm>
              <a:off x="1823648" y="2189879"/>
              <a:ext cx="3836035" cy="2718024"/>
            </a:xfrm>
            <a:prstGeom prst="rect">
              <a:avLst/>
            </a:prstGeom>
            <a:solidFill>
              <a:schemeClr val="bg1">
                <a:lumMod val="95000"/>
              </a:schemeClr>
            </a:solidFill>
            <a:ln>
              <a:solidFill>
                <a:schemeClr val="bg2">
                  <a:lumMod val="85000"/>
                </a:schemeClr>
              </a:solidFill>
            </a:ln>
          </p:spPr>
          <p:txBody>
            <a:bodyPr vert="horz" wrap="square" lIns="91440" tIns="45720" rIns="91440" bIns="45720" numCol="1" anchor="t" anchorCtr="0" compatLnSpc="1"/>
            <a:lstStyle/>
            <a:p>
              <a:pPr>
                <a:lnSpc>
                  <a:spcPct val="120000"/>
                </a:lnSpc>
              </a:pPr>
              <a:endParaRPr lang="zh-CN" altLang="en-US" sz="1200">
                <a:solidFill>
                  <a:schemeClr val="bg1"/>
                </a:solidFill>
              </a:endParaRPr>
            </a:p>
          </p:txBody>
        </p:sp>
        <p:sp>
          <p:nvSpPr>
            <p:cNvPr id="100" name="Freeform 6"/>
            <p:cNvSpPr/>
            <p:nvPr>
              <p:custDataLst>
                <p:tags r:id="rId5"/>
              </p:custDataLst>
            </p:nvPr>
          </p:nvSpPr>
          <p:spPr bwMode="auto">
            <a:xfrm>
              <a:off x="1965587"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200">
                <a:solidFill>
                  <a:schemeClr val="bg2"/>
                </a:solidFill>
              </a:endParaRPr>
            </a:p>
          </p:txBody>
        </p:sp>
        <p:sp>
          <p:nvSpPr>
            <p:cNvPr id="101" name="Freeform 7"/>
            <p:cNvSpPr/>
            <p:nvPr>
              <p:custDataLst>
                <p:tags r:id="rId6"/>
              </p:custDataLst>
            </p:nvPr>
          </p:nvSpPr>
          <p:spPr bwMode="auto">
            <a:xfrm>
              <a:off x="2203505"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200"/>
            </a:p>
          </p:txBody>
        </p:sp>
        <p:sp>
          <p:nvSpPr>
            <p:cNvPr id="102" name="矩形 101"/>
            <p:cNvSpPr/>
            <p:nvPr>
              <p:custDataLst>
                <p:tags r:id="rId7"/>
              </p:custDataLst>
            </p:nvPr>
          </p:nvSpPr>
          <p:spPr>
            <a:xfrm>
              <a:off x="3144383" y="2166159"/>
              <a:ext cx="1559560" cy="546706"/>
            </a:xfrm>
            <a:prstGeom prst="rect">
              <a:avLst/>
            </a:prstGeom>
          </p:spPr>
          <p:txBody>
            <a:bodyPr wrap="square">
              <a:spAutoFit/>
            </a:bodyPr>
            <a:lstStyle/>
            <a:p>
              <a:pPr algn="just">
                <a:lnSpc>
                  <a:spcPct val="120000"/>
                </a:lnSpc>
              </a:pPr>
              <a:r>
                <a:rPr lang="zh-CN" altLang="en-US" sz="2400" b="1" spc="300" dirty="0">
                  <a:solidFill>
                    <a:schemeClr val="bg2"/>
                  </a:solidFill>
                  <a:latin typeface="+mj-ea"/>
                  <a:ea typeface="+mj-ea"/>
                </a:rPr>
                <a:t>问题二</a:t>
              </a:r>
            </a:p>
          </p:txBody>
        </p:sp>
        <p:sp>
          <p:nvSpPr>
            <p:cNvPr id="103" name="TextBox 10"/>
            <p:cNvSpPr txBox="1"/>
            <p:nvPr>
              <p:custDataLst>
                <p:tags r:id="rId8"/>
              </p:custDataLst>
            </p:nvPr>
          </p:nvSpPr>
          <p:spPr>
            <a:xfrm>
              <a:off x="2203505" y="3057029"/>
              <a:ext cx="3097147" cy="1942134"/>
            </a:xfrm>
            <a:prstGeom prst="rect">
              <a:avLst/>
            </a:prstGeom>
            <a:noFill/>
          </p:spPr>
          <p:txBody>
            <a:bodyPr wrap="square" rtlCol="0">
              <a:spAutoFit/>
            </a:bodyPr>
            <a:lstStyle/>
            <a:p>
              <a:pPr marL="342900" indent="-342900" algn="just">
                <a:lnSpc>
                  <a:spcPct val="150000"/>
                </a:lnSpc>
                <a:buAutoNum type="arabicPeriod"/>
              </a:pPr>
              <a:r>
                <a:rPr lang="zh-CN" altLang="en-US" sz="1600" b="1" dirty="0">
                  <a:solidFill>
                    <a:schemeClr val="tx1"/>
                  </a:solidFill>
                  <a:latin typeface="+mn-ea"/>
                </a:rPr>
                <a:t>机器学习方法检测人物</a:t>
              </a:r>
              <a:r>
                <a:rPr lang="en-US" altLang="zh-CN" sz="1600" b="1" dirty="0">
                  <a:solidFill>
                    <a:schemeClr val="tx1"/>
                  </a:solidFill>
                  <a:latin typeface="+mn-ea"/>
                </a:rPr>
                <a:t>(</a:t>
              </a:r>
              <a:r>
                <a:rPr lang="en-US" altLang="zh-CN" sz="1600" b="1" dirty="0" err="1">
                  <a:latin typeface="+mn-ea"/>
                </a:rPr>
                <a:t>MobileNet</a:t>
              </a:r>
              <a:r>
                <a:rPr lang="en-US" altLang="zh-CN" sz="1600" b="1" dirty="0">
                  <a:latin typeface="+mn-ea"/>
                </a:rPr>
                <a:t> SSD)</a:t>
              </a:r>
            </a:p>
            <a:p>
              <a:pPr marL="342900" indent="-342900" algn="just">
                <a:lnSpc>
                  <a:spcPct val="150000"/>
                </a:lnSpc>
                <a:buAutoNum type="arabicPeriod"/>
              </a:pPr>
              <a:r>
                <a:rPr lang="zh-CN" altLang="en-US" sz="1600" b="1" dirty="0">
                  <a:solidFill>
                    <a:schemeClr val="tx1"/>
                  </a:solidFill>
                  <a:latin typeface="+mn-ea"/>
                </a:rPr>
                <a:t>轮廓筛选法检测人物</a:t>
              </a:r>
              <a:endParaRPr lang="en-US" altLang="zh-CN" sz="1600" b="1" dirty="0">
                <a:solidFill>
                  <a:schemeClr val="tx1"/>
                </a:solidFill>
                <a:latin typeface="+mn-ea"/>
              </a:endParaRPr>
            </a:p>
            <a:p>
              <a:pPr marL="342900" indent="-342900" algn="just">
                <a:lnSpc>
                  <a:spcPct val="150000"/>
                </a:lnSpc>
                <a:buAutoNum type="arabicPeriod"/>
              </a:pPr>
              <a:r>
                <a:rPr lang="zh-CN" altLang="en-US" sz="1600" b="1" dirty="0">
                  <a:latin typeface="+mn-ea"/>
                </a:rPr>
                <a:t>计算人物之间的距离</a:t>
              </a:r>
              <a:endParaRPr lang="en-US" altLang="zh-CN" sz="1600" b="1" dirty="0">
                <a:solidFill>
                  <a:schemeClr val="tx1"/>
                </a:solidFill>
                <a:latin typeface="+mn-ea"/>
              </a:endParaRPr>
            </a:p>
            <a:p>
              <a:pPr indent="457200" algn="just">
                <a:lnSpc>
                  <a:spcPct val="150000"/>
                </a:lnSpc>
              </a:pPr>
              <a:endParaRPr lang="en-US" altLang="zh-CN" sz="1600" b="1" dirty="0">
                <a:solidFill>
                  <a:schemeClr val="tx1"/>
                </a:solidFill>
                <a:latin typeface="+mn-ea"/>
              </a:endParaRPr>
            </a:p>
          </p:txBody>
        </p:sp>
      </p:grpSp>
      <p:cxnSp>
        <p:nvCxnSpPr>
          <p:cNvPr id="8" name="直接连接符 7"/>
          <p:cNvCxnSpPr/>
          <p:nvPr>
            <p:custDataLst>
              <p:tags r:id="rId3"/>
            </p:custDataLst>
          </p:nvPr>
        </p:nvCxnSpPr>
        <p:spPr>
          <a:xfrm>
            <a:off x="1120046" y="2626619"/>
            <a:ext cx="9607696" cy="0"/>
          </a:xfrm>
          <a:prstGeom prst="line">
            <a:avLst/>
          </a:prstGeom>
          <a:ln>
            <a:solidFill>
              <a:srgbClr val="433D3C"/>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678305" y="1427480"/>
            <a:ext cx="8836025" cy="1174681"/>
          </a:xfrm>
          <a:prstGeom prst="rect">
            <a:avLst/>
          </a:prstGeom>
          <a:noFill/>
        </p:spPr>
        <p:txBody>
          <a:bodyPr wrap="square" rtlCol="0">
            <a:spAutoFit/>
          </a:bodyPr>
          <a:lstStyle/>
          <a:p>
            <a:pPr>
              <a:lnSpc>
                <a:spcPts val="2880"/>
              </a:lnSpc>
            </a:pPr>
            <a:r>
              <a:rPr lang="zh-CN" altLang="en-US" dirty="0">
                <a:solidFill>
                  <a:srgbClr val="212121"/>
                </a:solidFill>
                <a:ea typeface="思源黑体" panose="020B0500000000000000" pitchFamily="34" charset="-122"/>
                <a:sym typeface="+mn-ea"/>
              </a:rPr>
              <a:t>问题一</a:t>
            </a:r>
            <a:r>
              <a:rPr lang="en-US" dirty="0">
                <a:solidFill>
                  <a:srgbClr val="212121"/>
                </a:solidFill>
                <a:ea typeface="思源黑体" panose="020B0500000000000000" pitchFamily="34" charset="-122"/>
                <a:sym typeface="+mn-ea"/>
              </a:rPr>
              <a:t>. </a:t>
            </a:r>
            <a:r>
              <a:rPr lang="en-US" b="1" dirty="0">
                <a:solidFill>
                  <a:srgbClr val="FF0000"/>
                </a:solidFill>
                <a:ea typeface="思源黑体" panose="020B0500000000000000" pitchFamily="34" charset="-122"/>
                <a:sym typeface="+mn-ea"/>
              </a:rPr>
              <a:t>V</a:t>
            </a:r>
            <a:r>
              <a:rPr lang="zh-CN" altLang="en-US" b="1" dirty="0">
                <a:solidFill>
                  <a:srgbClr val="FF0000"/>
                </a:solidFill>
                <a:ea typeface="思源黑体" panose="020B0500000000000000" pitchFamily="34" charset="-122"/>
                <a:sym typeface="+mn-ea"/>
              </a:rPr>
              <a:t>通道直方图均衡化</a:t>
            </a:r>
            <a:r>
              <a:rPr lang="zh-CN" altLang="en-US" dirty="0">
                <a:solidFill>
                  <a:srgbClr val="212121"/>
                </a:solidFill>
                <a:ea typeface="思源黑体" panose="020B0500000000000000" pitchFamily="34" charset="-122"/>
                <a:sym typeface="+mn-ea"/>
              </a:rPr>
              <a:t>：将图像转换成</a:t>
            </a:r>
            <a:r>
              <a:rPr lang="en-US" altLang="zh-CN" dirty="0">
                <a:solidFill>
                  <a:srgbClr val="212121"/>
                </a:solidFill>
                <a:ea typeface="思源黑体" panose="020B0500000000000000" pitchFamily="34" charset="-122"/>
                <a:sym typeface="+mn-ea"/>
              </a:rPr>
              <a:t>HSV</a:t>
            </a:r>
            <a:r>
              <a:rPr lang="zh-CN" altLang="en-US" dirty="0">
                <a:solidFill>
                  <a:srgbClr val="212121"/>
                </a:solidFill>
                <a:ea typeface="思源黑体" panose="020B0500000000000000" pitchFamily="34" charset="-122"/>
                <a:sym typeface="+mn-ea"/>
              </a:rPr>
              <a:t>三通道色彩空间，之后对</a:t>
            </a:r>
            <a:r>
              <a:rPr lang="en-US" altLang="zh-CN" dirty="0">
                <a:solidFill>
                  <a:srgbClr val="212121"/>
                </a:solidFill>
                <a:ea typeface="思源黑体" panose="020B0500000000000000" pitchFamily="34" charset="-122"/>
                <a:sym typeface="+mn-ea"/>
              </a:rPr>
              <a:t>V</a:t>
            </a:r>
            <a:r>
              <a:rPr lang="zh-CN" altLang="en-US" dirty="0">
                <a:solidFill>
                  <a:srgbClr val="212121"/>
                </a:solidFill>
                <a:ea typeface="思源黑体" panose="020B0500000000000000" pitchFamily="34" charset="-122"/>
                <a:sym typeface="+mn-ea"/>
              </a:rPr>
              <a:t>通道进行直方图均衡化，最后将</a:t>
            </a:r>
            <a:r>
              <a:rPr lang="en-US" altLang="zh-CN" dirty="0">
                <a:solidFill>
                  <a:srgbClr val="212121"/>
                </a:solidFill>
                <a:ea typeface="思源黑体" panose="020B0500000000000000" pitchFamily="34" charset="-122"/>
                <a:sym typeface="+mn-ea"/>
              </a:rPr>
              <a:t>V</a:t>
            </a:r>
            <a:r>
              <a:rPr lang="zh-CN" altLang="en-US" dirty="0">
                <a:solidFill>
                  <a:srgbClr val="212121"/>
                </a:solidFill>
                <a:ea typeface="思源黑体" panose="020B0500000000000000" pitchFamily="34" charset="-122"/>
                <a:sym typeface="+mn-ea"/>
              </a:rPr>
              <a:t>通道合并回</a:t>
            </a:r>
            <a:r>
              <a:rPr lang="en-US" altLang="zh-CN" dirty="0">
                <a:solidFill>
                  <a:srgbClr val="212121"/>
                </a:solidFill>
                <a:ea typeface="思源黑体" panose="020B0500000000000000" pitchFamily="34" charset="-122"/>
                <a:sym typeface="+mn-ea"/>
              </a:rPr>
              <a:t>HSV</a:t>
            </a:r>
            <a:r>
              <a:rPr lang="zh-CN" altLang="en-US" dirty="0">
                <a:solidFill>
                  <a:srgbClr val="212121"/>
                </a:solidFill>
                <a:ea typeface="思源黑体" panose="020B0500000000000000" pitchFamily="34" charset="-122"/>
                <a:sym typeface="+mn-ea"/>
              </a:rPr>
              <a:t>图像中并转换回</a:t>
            </a:r>
            <a:r>
              <a:rPr lang="en-US" altLang="zh-CN" dirty="0">
                <a:solidFill>
                  <a:srgbClr val="212121"/>
                </a:solidFill>
                <a:ea typeface="思源黑体" panose="020B0500000000000000" pitchFamily="34" charset="-122"/>
                <a:sym typeface="+mn-ea"/>
              </a:rPr>
              <a:t>RGB</a:t>
            </a:r>
            <a:r>
              <a:rPr lang="zh-CN" altLang="en-US" dirty="0">
                <a:solidFill>
                  <a:srgbClr val="212121"/>
                </a:solidFill>
                <a:ea typeface="思源黑体" panose="020B0500000000000000" pitchFamily="34" charset="-122"/>
                <a:sym typeface="+mn-ea"/>
              </a:rPr>
              <a:t>格式图像</a:t>
            </a:r>
            <a:endParaRPr lang="en-US" altLang="zh-CN" dirty="0">
              <a:solidFill>
                <a:srgbClr val="212121"/>
              </a:solidFill>
              <a:ea typeface="思源黑体" panose="020B0500000000000000" pitchFamily="34" charset="-122"/>
              <a:sym typeface="+mn-ea"/>
            </a:endParaRPr>
          </a:p>
          <a:p>
            <a:pPr>
              <a:lnSpc>
                <a:spcPts val="2880"/>
              </a:lnSpc>
            </a:pPr>
            <a:r>
              <a:rPr lang="zh-CN" altLang="en-US" dirty="0">
                <a:solidFill>
                  <a:srgbClr val="212121"/>
                </a:solidFill>
                <a:ea typeface="思源黑体" panose="020B0500000000000000" pitchFamily="34" charset="-122"/>
                <a:sym typeface="+mn-ea"/>
              </a:rPr>
              <a:t>问题二</a:t>
            </a:r>
            <a:r>
              <a:rPr lang="en-US" dirty="0">
                <a:solidFill>
                  <a:srgbClr val="212121"/>
                </a:solidFill>
                <a:ea typeface="思源黑体" panose="020B0500000000000000" pitchFamily="34" charset="-122"/>
                <a:sym typeface="+mn-ea"/>
              </a:rPr>
              <a:t>. </a:t>
            </a:r>
            <a:r>
              <a:rPr lang="zh-CN" altLang="en-US" b="1" dirty="0">
                <a:solidFill>
                  <a:srgbClr val="FF0000"/>
                </a:solidFill>
                <a:ea typeface="思源黑体" panose="020B0500000000000000" pitchFamily="34" charset="-122"/>
                <a:sym typeface="+mn-ea"/>
              </a:rPr>
              <a:t>计算图片中人物的距离</a:t>
            </a:r>
            <a:r>
              <a:rPr lang="zh-CN" altLang="en-US" dirty="0">
                <a:solidFill>
                  <a:srgbClr val="212121"/>
                </a:solidFill>
                <a:ea typeface="思源黑体" panose="020B0500000000000000" pitchFamily="34" charset="-122"/>
                <a:sym typeface="+mn-ea"/>
              </a:rPr>
              <a:t>：检测出图片中的人物并计算出他们之间的距离</a:t>
            </a:r>
            <a:endParaRPr lang="zh-CN" altLang="en-US" dirty="0">
              <a:solidFill>
                <a:srgbClr val="212121"/>
              </a:solidFill>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8350"/>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问题一</a:t>
            </a: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图片</a:t>
            </a:r>
            <a:r>
              <a:rPr lang="en-US" altLang="zh-CN" dirty="0"/>
              <a:t>V</a:t>
            </a:r>
            <a:r>
              <a:rPr lang="zh-CN" altLang="en-US" dirty="0"/>
              <a:t>通道直方图均衡化</a:t>
            </a:r>
          </a:p>
        </p:txBody>
      </p:sp>
      <p:pic>
        <p:nvPicPr>
          <p:cNvPr id="1028" name="Picture 4">
            <a:extLst>
              <a:ext uri="{FF2B5EF4-FFF2-40B4-BE49-F238E27FC236}">
                <a16:creationId xmlns:a16="http://schemas.microsoft.com/office/drawing/2014/main" id="{58E3291F-B84E-7B6D-E381-6F83D7EE390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3072" r="23238" b="23545"/>
          <a:stretch/>
        </p:blipFill>
        <p:spPr bwMode="auto">
          <a:xfrm>
            <a:off x="2598761" y="1208930"/>
            <a:ext cx="6994478" cy="514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4420697" cy="456129"/>
          </a:xfrm>
        </p:spPr>
        <p:txBody>
          <a:bodyPr/>
          <a:lstStyle/>
          <a:p>
            <a:pPr>
              <a:lnSpc>
                <a:spcPct val="120000"/>
              </a:lnSpc>
            </a:pPr>
            <a:r>
              <a:rPr lang="zh-CN" altLang="en-US" dirty="0"/>
              <a:t>拓展：视频</a:t>
            </a:r>
            <a:r>
              <a:rPr lang="en-US" altLang="zh-CN" dirty="0"/>
              <a:t>V</a:t>
            </a:r>
            <a:r>
              <a:rPr lang="zh-CN" altLang="en-US" dirty="0"/>
              <a:t>通道直方图均衡化</a:t>
            </a:r>
          </a:p>
        </p:txBody>
      </p:sp>
      <p:sp>
        <p:nvSpPr>
          <p:cNvPr id="2" name="文本框 1">
            <a:extLst>
              <a:ext uri="{FF2B5EF4-FFF2-40B4-BE49-F238E27FC236}">
                <a16:creationId xmlns:a16="http://schemas.microsoft.com/office/drawing/2014/main" id="{FB868FCC-D305-8B9A-C401-FF495A1E7674}"/>
              </a:ext>
            </a:extLst>
          </p:cNvPr>
          <p:cNvSpPr txBox="1"/>
          <p:nvPr/>
        </p:nvSpPr>
        <p:spPr>
          <a:xfrm>
            <a:off x="2907849" y="2231409"/>
            <a:ext cx="6809357" cy="369332"/>
          </a:xfrm>
          <a:prstGeom prst="rect">
            <a:avLst/>
          </a:prstGeom>
          <a:noFill/>
        </p:spPr>
        <p:txBody>
          <a:bodyPr wrap="square" rtlCol="0">
            <a:spAutoFit/>
          </a:bodyPr>
          <a:lstStyle/>
          <a:p>
            <a:pPr algn="ctr"/>
            <a:r>
              <a:rPr lang="zh-CN" altLang="en-US" dirty="0"/>
              <a:t>将视频的每一帧进行</a:t>
            </a:r>
            <a:r>
              <a:rPr lang="en-US" altLang="zh-CN" dirty="0"/>
              <a:t>V</a:t>
            </a:r>
            <a:r>
              <a:rPr lang="zh-CN" altLang="en-US" dirty="0"/>
              <a:t>通道直方图均衡化处理，可以得到以下效果：</a:t>
            </a:r>
          </a:p>
        </p:txBody>
      </p:sp>
      <p:pic>
        <p:nvPicPr>
          <p:cNvPr id="4" name="图片 3">
            <a:extLst>
              <a:ext uri="{FF2B5EF4-FFF2-40B4-BE49-F238E27FC236}">
                <a16:creationId xmlns:a16="http://schemas.microsoft.com/office/drawing/2014/main" id="{526C1D4F-8243-2FEE-6E35-F9FD35FAC537}"/>
              </a:ext>
            </a:extLst>
          </p:cNvPr>
          <p:cNvPicPr>
            <a:picLocks noChangeAspect="1"/>
          </p:cNvPicPr>
          <p:nvPr/>
        </p:nvPicPr>
        <p:blipFill>
          <a:blip r:embed="rId3"/>
          <a:stretch>
            <a:fillRect/>
          </a:stretch>
        </p:blipFill>
        <p:spPr>
          <a:xfrm>
            <a:off x="6203831" y="2834397"/>
            <a:ext cx="5096515" cy="3308441"/>
          </a:xfrm>
          <a:prstGeom prst="rect">
            <a:avLst/>
          </a:prstGeom>
        </p:spPr>
      </p:pic>
      <p:pic>
        <p:nvPicPr>
          <p:cNvPr id="7" name="图片 6">
            <a:extLst>
              <a:ext uri="{FF2B5EF4-FFF2-40B4-BE49-F238E27FC236}">
                <a16:creationId xmlns:a16="http://schemas.microsoft.com/office/drawing/2014/main" id="{91A76A31-1F83-2CDD-69C0-D25F7029A00E}"/>
              </a:ext>
            </a:extLst>
          </p:cNvPr>
          <p:cNvPicPr>
            <a:picLocks noChangeAspect="1"/>
          </p:cNvPicPr>
          <p:nvPr/>
        </p:nvPicPr>
        <p:blipFill>
          <a:blip r:embed="rId4"/>
          <a:stretch>
            <a:fillRect/>
          </a:stretch>
        </p:blipFill>
        <p:spPr>
          <a:xfrm>
            <a:off x="999485" y="2834397"/>
            <a:ext cx="5096515" cy="3308441"/>
          </a:xfrm>
          <a:prstGeom prst="rect">
            <a:avLst/>
          </a:prstGeom>
        </p:spPr>
      </p:pic>
    </p:spTree>
    <p:extLst>
      <p:ext uri="{BB962C8B-B14F-4D97-AF65-F5344CB8AC3E}">
        <p14:creationId xmlns:p14="http://schemas.microsoft.com/office/powerpoint/2010/main" val="401122242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65726" y="2443843"/>
            <a:ext cx="1682750" cy="2214880"/>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03</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8350"/>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问题二</a:t>
            </a: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机器学习方法检测流程图</a:t>
            </a:r>
          </a:p>
        </p:txBody>
      </p:sp>
      <p:pic>
        <p:nvPicPr>
          <p:cNvPr id="9" name="图片 8">
            <a:extLst>
              <a:ext uri="{FF2B5EF4-FFF2-40B4-BE49-F238E27FC236}">
                <a16:creationId xmlns:a16="http://schemas.microsoft.com/office/drawing/2014/main" id="{E0A5A684-381D-1731-BF5A-235F7F1F4D36}"/>
              </a:ext>
            </a:extLst>
          </p:cNvPr>
          <p:cNvPicPr>
            <a:picLocks noChangeAspect="1"/>
          </p:cNvPicPr>
          <p:nvPr/>
        </p:nvPicPr>
        <p:blipFill>
          <a:blip r:embed="rId3"/>
          <a:stretch>
            <a:fillRect/>
          </a:stretch>
        </p:blipFill>
        <p:spPr>
          <a:xfrm>
            <a:off x="425626" y="2033586"/>
            <a:ext cx="11340748" cy="1978855"/>
          </a:xfrm>
          <a:prstGeom prst="rect">
            <a:avLst/>
          </a:prstGeom>
        </p:spPr>
      </p:pic>
      <p:pic>
        <p:nvPicPr>
          <p:cNvPr id="11" name="图片 10">
            <a:extLst>
              <a:ext uri="{FF2B5EF4-FFF2-40B4-BE49-F238E27FC236}">
                <a16:creationId xmlns:a16="http://schemas.microsoft.com/office/drawing/2014/main" id="{6290046C-BE73-BC13-E1DD-FBAFE34DDE99}"/>
              </a:ext>
            </a:extLst>
          </p:cNvPr>
          <p:cNvPicPr>
            <a:picLocks noChangeAspect="1"/>
          </p:cNvPicPr>
          <p:nvPr/>
        </p:nvPicPr>
        <p:blipFill rotWithShape="1">
          <a:blip r:embed="rId4"/>
          <a:srcRect l="630" r="1049"/>
          <a:stretch/>
        </p:blipFill>
        <p:spPr>
          <a:xfrm>
            <a:off x="1521724" y="3937379"/>
            <a:ext cx="9109881" cy="2277594"/>
          </a:xfrm>
          <a:prstGeom prst="rect">
            <a:avLst/>
          </a:prstGeom>
        </p:spPr>
      </p:pic>
      <p:sp>
        <p:nvSpPr>
          <p:cNvPr id="13" name="文本框 12">
            <a:extLst>
              <a:ext uri="{FF2B5EF4-FFF2-40B4-BE49-F238E27FC236}">
                <a16:creationId xmlns:a16="http://schemas.microsoft.com/office/drawing/2014/main" id="{9C761234-EAF6-07DD-C3E3-3A31B2469E48}"/>
              </a:ext>
            </a:extLst>
          </p:cNvPr>
          <p:cNvSpPr txBox="1"/>
          <p:nvPr/>
        </p:nvSpPr>
        <p:spPr>
          <a:xfrm>
            <a:off x="544625" y="1479588"/>
            <a:ext cx="10032390" cy="923330"/>
          </a:xfrm>
          <a:prstGeom prst="rect">
            <a:avLst/>
          </a:prstGeom>
          <a:noFill/>
        </p:spPr>
        <p:txBody>
          <a:bodyPr wrap="square">
            <a:spAutoFit/>
          </a:bodyPr>
          <a:lstStyle/>
          <a:p>
            <a:r>
              <a:rPr lang="en-US" altLang="zh-CN" b="0" i="0" dirty="0" err="1">
                <a:effectLst/>
                <a:latin typeface="Söhne"/>
              </a:rPr>
              <a:t>MobileNet</a:t>
            </a:r>
            <a:r>
              <a:rPr lang="en-US" altLang="zh-CN" b="0" i="0" dirty="0">
                <a:effectLst/>
                <a:latin typeface="Söhne"/>
              </a:rPr>
              <a:t> SSD</a:t>
            </a:r>
            <a:r>
              <a:rPr lang="zh-CN" altLang="en-US" b="0" i="0" dirty="0">
                <a:effectLst/>
                <a:latin typeface="Söhne"/>
              </a:rPr>
              <a:t>（</a:t>
            </a:r>
            <a:r>
              <a:rPr lang="en-US" altLang="zh-CN" b="0" i="0" dirty="0" err="1">
                <a:effectLst/>
                <a:latin typeface="Söhne"/>
              </a:rPr>
              <a:t>MobileNet</a:t>
            </a:r>
            <a:r>
              <a:rPr lang="en-US" altLang="zh-CN" b="0" i="0" dirty="0">
                <a:effectLst/>
                <a:latin typeface="Söhne"/>
              </a:rPr>
              <a:t> Single Shot </a:t>
            </a:r>
            <a:r>
              <a:rPr lang="en-US" altLang="zh-CN" b="0" i="0" dirty="0" err="1">
                <a:effectLst/>
                <a:latin typeface="Söhne"/>
              </a:rPr>
              <a:t>Multibox</a:t>
            </a:r>
            <a:r>
              <a:rPr lang="en-US" altLang="zh-CN" b="0" i="0" dirty="0">
                <a:effectLst/>
                <a:latin typeface="Söhne"/>
              </a:rPr>
              <a:t> Detector</a:t>
            </a:r>
            <a:r>
              <a:rPr lang="zh-CN" altLang="en-US" b="0" i="0" dirty="0">
                <a:effectLst/>
                <a:latin typeface="Söhne"/>
              </a:rPr>
              <a:t>）是一种轻量级的目标检测模型，</a:t>
            </a:r>
            <a:r>
              <a:rPr lang="zh-CN" altLang="en-US" dirty="0">
                <a:latin typeface="Söhne"/>
              </a:rPr>
              <a:t>它在速度和准确度之间取得了良好的平衡，可以实现较高的检测速度和较好的检测精度。</a:t>
            </a:r>
          </a:p>
          <a:p>
            <a:endParaRPr lang="zh-CN" altLang="en-US" dirty="0"/>
          </a:p>
        </p:txBody>
      </p:sp>
      <p:sp>
        <p:nvSpPr>
          <p:cNvPr id="18" name="文本框 17">
            <a:extLst>
              <a:ext uri="{FF2B5EF4-FFF2-40B4-BE49-F238E27FC236}">
                <a16:creationId xmlns:a16="http://schemas.microsoft.com/office/drawing/2014/main" id="{D7E14E14-A0F6-348F-94A2-6746FE035208}"/>
              </a:ext>
            </a:extLst>
          </p:cNvPr>
          <p:cNvSpPr txBox="1"/>
          <p:nvPr/>
        </p:nvSpPr>
        <p:spPr>
          <a:xfrm>
            <a:off x="1323834" y="3827775"/>
            <a:ext cx="5384040" cy="369332"/>
          </a:xfrm>
          <a:prstGeom prst="rect">
            <a:avLst/>
          </a:prstGeom>
          <a:noFill/>
        </p:spPr>
        <p:txBody>
          <a:bodyPr wrap="square" rtlCol="0">
            <a:spAutoFit/>
          </a:bodyPr>
          <a:lstStyle/>
          <a:p>
            <a:pPr algn="ctr"/>
            <a:r>
              <a:rPr lang="zh-CN" altLang="en-US" dirty="0"/>
              <a:t>人物的长于宽之比在（</a:t>
            </a:r>
            <a:r>
              <a:rPr lang="en-US" altLang="zh-CN" dirty="0"/>
              <a:t>2</a:t>
            </a:r>
            <a:r>
              <a:rPr lang="zh-CN" altLang="en-US" dirty="0"/>
              <a:t>，</a:t>
            </a:r>
            <a:r>
              <a:rPr lang="en-US" altLang="zh-CN" dirty="0"/>
              <a:t>6</a:t>
            </a:r>
            <a:r>
              <a:rPr lang="zh-CN" altLang="en-US" dirty="0"/>
              <a:t>）之间时计算实际距离</a:t>
            </a: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机器学习方法效果</a:t>
            </a:r>
          </a:p>
        </p:txBody>
      </p:sp>
      <p:pic>
        <p:nvPicPr>
          <p:cNvPr id="4098" name="Picture 2">
            <a:extLst>
              <a:ext uri="{FF2B5EF4-FFF2-40B4-BE49-F238E27FC236}">
                <a16:creationId xmlns:a16="http://schemas.microsoft.com/office/drawing/2014/main" id="{F9F331CB-BD35-582C-5897-C034F96FBE2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6" t="2891" r="5986" b="6919"/>
          <a:stretch/>
        </p:blipFill>
        <p:spPr bwMode="auto">
          <a:xfrm>
            <a:off x="818866" y="2872854"/>
            <a:ext cx="5277134" cy="266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CFEF3CC1-59F1-C2D3-0F26-8C7CB73D1859}"/>
              </a:ext>
            </a:extLst>
          </p:cNvPr>
          <p:cNvSpPr txBox="1"/>
          <p:nvPr/>
        </p:nvSpPr>
        <p:spPr>
          <a:xfrm>
            <a:off x="1965183" y="2251880"/>
            <a:ext cx="2984499" cy="369332"/>
          </a:xfrm>
          <a:prstGeom prst="rect">
            <a:avLst/>
          </a:prstGeom>
          <a:noFill/>
        </p:spPr>
        <p:txBody>
          <a:bodyPr wrap="square" rtlCol="0">
            <a:spAutoFit/>
          </a:bodyPr>
          <a:lstStyle/>
          <a:p>
            <a:pPr algn="ctr"/>
            <a:r>
              <a:rPr lang="zh-CN" altLang="en-US" dirty="0"/>
              <a:t>原图检测得到结果</a:t>
            </a:r>
          </a:p>
        </p:txBody>
      </p:sp>
      <p:sp>
        <p:nvSpPr>
          <p:cNvPr id="6" name="文本框 5">
            <a:extLst>
              <a:ext uri="{FF2B5EF4-FFF2-40B4-BE49-F238E27FC236}">
                <a16:creationId xmlns:a16="http://schemas.microsoft.com/office/drawing/2014/main" id="{9ED67A2E-6C07-D9A8-791E-F36497D7FFCD}"/>
              </a:ext>
            </a:extLst>
          </p:cNvPr>
          <p:cNvSpPr txBox="1"/>
          <p:nvPr/>
        </p:nvSpPr>
        <p:spPr>
          <a:xfrm>
            <a:off x="7459075" y="1715068"/>
            <a:ext cx="2984499" cy="369332"/>
          </a:xfrm>
          <a:prstGeom prst="rect">
            <a:avLst/>
          </a:prstGeom>
          <a:noFill/>
        </p:spPr>
        <p:txBody>
          <a:bodyPr wrap="square" rtlCol="0">
            <a:spAutoFit/>
          </a:bodyPr>
          <a:lstStyle/>
          <a:p>
            <a:pPr algn="ctr"/>
            <a:r>
              <a:rPr lang="zh-CN" altLang="en-US" dirty="0"/>
              <a:t>其他图片测试得到结果</a:t>
            </a:r>
          </a:p>
        </p:txBody>
      </p:sp>
      <p:pic>
        <p:nvPicPr>
          <p:cNvPr id="8" name="图片 7">
            <a:extLst>
              <a:ext uri="{FF2B5EF4-FFF2-40B4-BE49-F238E27FC236}">
                <a16:creationId xmlns:a16="http://schemas.microsoft.com/office/drawing/2014/main" id="{E86C4792-56B5-E960-C3CD-B90B09678B6C}"/>
              </a:ext>
            </a:extLst>
          </p:cNvPr>
          <p:cNvPicPr>
            <a:picLocks noChangeAspect="1"/>
          </p:cNvPicPr>
          <p:nvPr/>
        </p:nvPicPr>
        <p:blipFill>
          <a:blip r:embed="rId4"/>
          <a:stretch>
            <a:fillRect/>
          </a:stretch>
        </p:blipFill>
        <p:spPr>
          <a:xfrm>
            <a:off x="6426958" y="2350827"/>
            <a:ext cx="5197067" cy="3712191"/>
          </a:xfrm>
          <a:prstGeom prst="rect">
            <a:avLst/>
          </a:prstGeom>
        </p:spPr>
      </p:pic>
    </p:spTree>
    <p:extLst>
      <p:ext uri="{BB962C8B-B14F-4D97-AF65-F5344CB8AC3E}">
        <p14:creationId xmlns:p14="http://schemas.microsoft.com/office/powerpoint/2010/main" val="540032025"/>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纯</a:t>
            </a:r>
            <a:r>
              <a:rPr lang="en-US" altLang="zh-CN" dirty="0"/>
              <a:t>CV</a:t>
            </a:r>
            <a:r>
              <a:rPr lang="zh-CN" altLang="en-US" dirty="0"/>
              <a:t>方法检测流程图</a:t>
            </a:r>
          </a:p>
        </p:txBody>
      </p:sp>
      <p:pic>
        <p:nvPicPr>
          <p:cNvPr id="3" name="图片 2">
            <a:extLst>
              <a:ext uri="{FF2B5EF4-FFF2-40B4-BE49-F238E27FC236}">
                <a16:creationId xmlns:a16="http://schemas.microsoft.com/office/drawing/2014/main" id="{8781FF3E-FE88-6382-9E8D-EDA81665EF54}"/>
              </a:ext>
            </a:extLst>
          </p:cNvPr>
          <p:cNvPicPr>
            <a:picLocks noChangeAspect="1"/>
          </p:cNvPicPr>
          <p:nvPr/>
        </p:nvPicPr>
        <p:blipFill>
          <a:blip r:embed="rId3"/>
          <a:stretch>
            <a:fillRect/>
          </a:stretch>
        </p:blipFill>
        <p:spPr>
          <a:xfrm>
            <a:off x="728662" y="1575676"/>
            <a:ext cx="10734675" cy="1400175"/>
          </a:xfrm>
          <a:prstGeom prst="rect">
            <a:avLst/>
          </a:prstGeom>
        </p:spPr>
      </p:pic>
      <p:pic>
        <p:nvPicPr>
          <p:cNvPr id="6" name="图片 5">
            <a:extLst>
              <a:ext uri="{FF2B5EF4-FFF2-40B4-BE49-F238E27FC236}">
                <a16:creationId xmlns:a16="http://schemas.microsoft.com/office/drawing/2014/main" id="{462F152B-4061-5475-AC64-8991B38DDDB0}"/>
              </a:ext>
            </a:extLst>
          </p:cNvPr>
          <p:cNvPicPr>
            <a:picLocks noChangeAspect="1"/>
          </p:cNvPicPr>
          <p:nvPr/>
        </p:nvPicPr>
        <p:blipFill>
          <a:blip r:embed="rId4"/>
          <a:stretch>
            <a:fillRect/>
          </a:stretch>
        </p:blipFill>
        <p:spPr>
          <a:xfrm>
            <a:off x="804862" y="2991562"/>
            <a:ext cx="10658475" cy="1781175"/>
          </a:xfrm>
          <a:prstGeom prst="rect">
            <a:avLst/>
          </a:prstGeom>
        </p:spPr>
      </p:pic>
      <p:sp>
        <p:nvSpPr>
          <p:cNvPr id="7" name="文本框 6">
            <a:extLst>
              <a:ext uri="{FF2B5EF4-FFF2-40B4-BE49-F238E27FC236}">
                <a16:creationId xmlns:a16="http://schemas.microsoft.com/office/drawing/2014/main" id="{489F6BAC-66C7-DFF8-23B9-A1F2F53C9539}"/>
              </a:ext>
            </a:extLst>
          </p:cNvPr>
          <p:cNvSpPr txBox="1"/>
          <p:nvPr/>
        </p:nvSpPr>
        <p:spPr>
          <a:xfrm>
            <a:off x="728662" y="4904146"/>
            <a:ext cx="4415407" cy="923330"/>
          </a:xfrm>
          <a:prstGeom prst="rect">
            <a:avLst/>
          </a:prstGeom>
          <a:noFill/>
        </p:spPr>
        <p:txBody>
          <a:bodyPr wrap="square" rtlCol="0">
            <a:spAutoFit/>
          </a:bodyPr>
          <a:lstStyle/>
          <a:p>
            <a:r>
              <a:rPr lang="en-US" altLang="zh-CN" dirty="0"/>
              <a:t>1. </a:t>
            </a:r>
            <a:r>
              <a:rPr lang="zh-CN" altLang="en-US" dirty="0"/>
              <a:t>轮廓宽与长的比应在</a:t>
            </a:r>
            <a:r>
              <a:rPr lang="en-US" altLang="zh-CN" dirty="0"/>
              <a:t>(0.1, 0.9)</a:t>
            </a:r>
            <a:r>
              <a:rPr lang="zh-CN" altLang="en-US" dirty="0"/>
              <a:t>之间，</a:t>
            </a:r>
            <a:endParaRPr lang="en-US" altLang="zh-CN" dirty="0"/>
          </a:p>
          <a:p>
            <a:r>
              <a:rPr lang="en-US" altLang="zh-CN" dirty="0"/>
              <a:t>2. </a:t>
            </a:r>
            <a:r>
              <a:rPr lang="zh-CN" altLang="en-US" dirty="0"/>
              <a:t>轮廓周长应大于</a:t>
            </a:r>
            <a:r>
              <a:rPr lang="en-US" altLang="zh-CN" dirty="0"/>
              <a:t>100</a:t>
            </a:r>
            <a:r>
              <a:rPr lang="zh-CN" altLang="en-US" dirty="0"/>
              <a:t>像素，</a:t>
            </a:r>
            <a:endParaRPr lang="en-US" altLang="zh-CN" dirty="0"/>
          </a:p>
          <a:p>
            <a:r>
              <a:rPr lang="en-US" altLang="zh-CN" dirty="0"/>
              <a:t>3. </a:t>
            </a:r>
            <a:r>
              <a:rPr lang="zh-CN" altLang="en-US" dirty="0"/>
              <a:t>图像边框距离应大于</a:t>
            </a:r>
            <a:r>
              <a:rPr lang="en-US" altLang="zh-CN" dirty="0"/>
              <a:t>20</a:t>
            </a:r>
            <a:r>
              <a:rPr lang="zh-CN" altLang="en-US" dirty="0"/>
              <a:t>像素</a:t>
            </a:r>
          </a:p>
        </p:txBody>
      </p:sp>
      <p:sp>
        <p:nvSpPr>
          <p:cNvPr id="8" name="文本框 7">
            <a:extLst>
              <a:ext uri="{FF2B5EF4-FFF2-40B4-BE49-F238E27FC236}">
                <a16:creationId xmlns:a16="http://schemas.microsoft.com/office/drawing/2014/main" id="{DBB82DD7-1020-C0D9-BEE0-177342F06699}"/>
              </a:ext>
            </a:extLst>
          </p:cNvPr>
          <p:cNvSpPr txBox="1"/>
          <p:nvPr/>
        </p:nvSpPr>
        <p:spPr>
          <a:xfrm>
            <a:off x="6625990" y="5097658"/>
            <a:ext cx="4189080" cy="369332"/>
          </a:xfrm>
          <a:prstGeom prst="rect">
            <a:avLst/>
          </a:prstGeom>
          <a:noFill/>
        </p:spPr>
        <p:txBody>
          <a:bodyPr wrap="square" rtlCol="0">
            <a:spAutoFit/>
          </a:bodyPr>
          <a:lstStyle/>
          <a:p>
            <a:pPr algn="ctr"/>
            <a:r>
              <a:rPr lang="zh-CN" altLang="en-US" dirty="0"/>
              <a:t>当轮廓之间距离小于</a:t>
            </a:r>
            <a:r>
              <a:rPr lang="en-US" altLang="zh-CN" dirty="0"/>
              <a:t>40</a:t>
            </a:r>
            <a:r>
              <a:rPr lang="zh-CN" altLang="en-US" dirty="0"/>
              <a:t>像素时进行合并</a:t>
            </a:r>
          </a:p>
        </p:txBody>
      </p:sp>
    </p:spTree>
    <p:extLst>
      <p:ext uri="{BB962C8B-B14F-4D97-AF65-F5344CB8AC3E}">
        <p14:creationId xmlns:p14="http://schemas.microsoft.com/office/powerpoint/2010/main" val="1444579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纯</a:t>
            </a:r>
            <a:r>
              <a:rPr lang="en-US" altLang="zh-CN" dirty="0"/>
              <a:t>CV</a:t>
            </a:r>
            <a:r>
              <a:rPr lang="zh-CN" altLang="en-US" dirty="0"/>
              <a:t>方法检测效果</a:t>
            </a:r>
          </a:p>
        </p:txBody>
      </p:sp>
      <p:pic>
        <p:nvPicPr>
          <p:cNvPr id="2050" name="Picture 2">
            <a:extLst>
              <a:ext uri="{FF2B5EF4-FFF2-40B4-BE49-F238E27FC236}">
                <a16:creationId xmlns:a16="http://schemas.microsoft.com/office/drawing/2014/main" id="{31F7C1C0-E8DF-6AB9-D648-BFC70E771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530" y="2777448"/>
            <a:ext cx="2984500"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8F42BE78-D756-01AF-1447-95B38FE39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983" y="2777449"/>
            <a:ext cx="2984499"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a:extLst>
              <a:ext uri="{FF2B5EF4-FFF2-40B4-BE49-F238E27FC236}">
                <a16:creationId xmlns:a16="http://schemas.microsoft.com/office/drawing/2014/main" id="{3F47A78D-A166-C2FC-6299-382E23DEAB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6079" y="2784436"/>
            <a:ext cx="2984500"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C9966CD-0379-8012-F302-8C6C0C831C86}"/>
              </a:ext>
            </a:extLst>
          </p:cNvPr>
          <p:cNvSpPr txBox="1"/>
          <p:nvPr/>
        </p:nvSpPr>
        <p:spPr>
          <a:xfrm>
            <a:off x="862983" y="4510585"/>
            <a:ext cx="2984499" cy="369332"/>
          </a:xfrm>
          <a:prstGeom prst="rect">
            <a:avLst/>
          </a:prstGeom>
          <a:noFill/>
        </p:spPr>
        <p:txBody>
          <a:bodyPr wrap="square" rtlCol="0">
            <a:spAutoFit/>
          </a:bodyPr>
          <a:lstStyle/>
          <a:p>
            <a:pPr algn="ctr"/>
            <a:r>
              <a:rPr lang="en-US" altLang="zh-CN" dirty="0"/>
              <a:t>Canny</a:t>
            </a:r>
            <a:r>
              <a:rPr lang="zh-CN" altLang="en-US" dirty="0"/>
              <a:t>检测算法得到结果</a:t>
            </a:r>
          </a:p>
        </p:txBody>
      </p:sp>
      <p:sp>
        <p:nvSpPr>
          <p:cNvPr id="4" name="文本框 3">
            <a:extLst>
              <a:ext uri="{FF2B5EF4-FFF2-40B4-BE49-F238E27FC236}">
                <a16:creationId xmlns:a16="http://schemas.microsoft.com/office/drawing/2014/main" id="{9CF7E5DB-501C-826E-D5AC-09F0D53775FA}"/>
              </a:ext>
            </a:extLst>
          </p:cNvPr>
          <p:cNvSpPr txBox="1"/>
          <p:nvPr/>
        </p:nvSpPr>
        <p:spPr>
          <a:xfrm>
            <a:off x="4619531" y="4510585"/>
            <a:ext cx="2984499" cy="369332"/>
          </a:xfrm>
          <a:prstGeom prst="rect">
            <a:avLst/>
          </a:prstGeom>
          <a:noFill/>
        </p:spPr>
        <p:txBody>
          <a:bodyPr wrap="square" rtlCol="0">
            <a:spAutoFit/>
          </a:bodyPr>
          <a:lstStyle/>
          <a:p>
            <a:pPr algn="ctr"/>
            <a:r>
              <a:rPr lang="zh-CN" altLang="en-US" dirty="0"/>
              <a:t>轮廓筛选得到结果</a:t>
            </a:r>
          </a:p>
        </p:txBody>
      </p:sp>
      <p:sp>
        <p:nvSpPr>
          <p:cNvPr id="7" name="文本框 6">
            <a:extLst>
              <a:ext uri="{FF2B5EF4-FFF2-40B4-BE49-F238E27FC236}">
                <a16:creationId xmlns:a16="http://schemas.microsoft.com/office/drawing/2014/main" id="{7A698145-F317-7EBF-ECA1-234D1D20A81A}"/>
              </a:ext>
            </a:extLst>
          </p:cNvPr>
          <p:cNvSpPr txBox="1"/>
          <p:nvPr/>
        </p:nvSpPr>
        <p:spPr>
          <a:xfrm>
            <a:off x="8376080" y="4510585"/>
            <a:ext cx="2984499" cy="369332"/>
          </a:xfrm>
          <a:prstGeom prst="rect">
            <a:avLst/>
          </a:prstGeom>
          <a:noFill/>
        </p:spPr>
        <p:txBody>
          <a:bodyPr wrap="square" rtlCol="0">
            <a:spAutoFit/>
          </a:bodyPr>
          <a:lstStyle/>
          <a:p>
            <a:pPr algn="ctr"/>
            <a:r>
              <a:rPr lang="zh-CN" altLang="en-US" dirty="0"/>
              <a:t>轮廓合并得到结果</a:t>
            </a:r>
          </a:p>
        </p:txBody>
      </p:sp>
    </p:spTree>
    <p:extLst>
      <p:ext uri="{BB962C8B-B14F-4D97-AF65-F5344CB8AC3E}">
        <p14:creationId xmlns:p14="http://schemas.microsoft.com/office/powerpoint/2010/main" val="1647559539"/>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91812" y="2443843"/>
            <a:ext cx="1630576"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04</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1446550"/>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网页交互页面展示</a:t>
            </a: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36718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66966" y="2443843"/>
            <a:ext cx="1680268"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05</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8350"/>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分析</a:t>
            </a: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直方图均衡化的作用</a:t>
            </a:r>
          </a:p>
        </p:txBody>
      </p:sp>
      <p:pic>
        <p:nvPicPr>
          <p:cNvPr id="5122" name="Picture 2">
            <a:extLst>
              <a:ext uri="{FF2B5EF4-FFF2-40B4-BE49-F238E27FC236}">
                <a16:creationId xmlns:a16="http://schemas.microsoft.com/office/drawing/2014/main" id="{BC52193A-97A1-93DA-9132-C003CB27CC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909" y="2646778"/>
            <a:ext cx="5383426" cy="286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844990DB-39A1-8623-3864-3CF51CED0C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51608" y="2646778"/>
            <a:ext cx="5785483" cy="286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C5257549-D9A1-2E70-C9EE-89AF4A2093D2}"/>
              </a:ext>
            </a:extLst>
          </p:cNvPr>
          <p:cNvSpPr txBox="1"/>
          <p:nvPr/>
        </p:nvSpPr>
        <p:spPr>
          <a:xfrm>
            <a:off x="1406897" y="2000446"/>
            <a:ext cx="3863323" cy="646331"/>
          </a:xfrm>
          <a:prstGeom prst="rect">
            <a:avLst/>
          </a:prstGeom>
          <a:noFill/>
        </p:spPr>
        <p:txBody>
          <a:bodyPr wrap="square" rtlCol="0">
            <a:spAutoFit/>
          </a:bodyPr>
          <a:lstStyle/>
          <a:p>
            <a:pPr algn="ct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未经过</a:t>
            </a:r>
            <a:r>
              <a:rPr lang="en-US" altLang="zh-CN" sz="1800" kern="100" dirty="0">
                <a:effectLst/>
                <a:latin typeface="Times New Roman" panose="02020603050405020304" pitchFamily="18" charset="0"/>
                <a:ea typeface="宋体" panose="02010600030101010101" pitchFamily="2" charset="-122"/>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通道直方图均衡化处理图片识别结果</a:t>
            </a:r>
            <a:endParaRPr lang="zh-CN" altLang="en-US" dirty="0"/>
          </a:p>
        </p:txBody>
      </p:sp>
      <p:sp>
        <p:nvSpPr>
          <p:cNvPr id="4" name="文本框 3">
            <a:extLst>
              <a:ext uri="{FF2B5EF4-FFF2-40B4-BE49-F238E27FC236}">
                <a16:creationId xmlns:a16="http://schemas.microsoft.com/office/drawing/2014/main" id="{9D10FABE-1C51-AFB1-7CC1-0629D94122F4}"/>
              </a:ext>
            </a:extLst>
          </p:cNvPr>
          <p:cNvSpPr txBox="1"/>
          <p:nvPr/>
        </p:nvSpPr>
        <p:spPr>
          <a:xfrm>
            <a:off x="7113263" y="2000446"/>
            <a:ext cx="3736707" cy="646331"/>
          </a:xfrm>
          <a:prstGeom prst="rect">
            <a:avLst/>
          </a:prstGeom>
          <a:noFill/>
        </p:spPr>
        <p:txBody>
          <a:bodyPr wrap="square" rtlCol="0">
            <a:spAutoFit/>
          </a:bodyPr>
          <a:lstStyle/>
          <a:p>
            <a:pPr algn="ct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经过</a:t>
            </a:r>
            <a:r>
              <a:rPr lang="en-US" altLang="zh-CN" sz="1800" kern="100" dirty="0">
                <a:effectLst/>
                <a:latin typeface="Times New Roman" panose="02020603050405020304" pitchFamily="18" charset="0"/>
                <a:ea typeface="宋体" panose="02010600030101010101" pitchFamily="2" charset="-122"/>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通道直方图均衡化处理图片识别结果</a:t>
            </a:r>
            <a:endParaRPr lang="zh-CN" altLang="en-US" dirty="0"/>
          </a:p>
        </p:txBody>
      </p:sp>
      <p:sp>
        <p:nvSpPr>
          <p:cNvPr id="7" name="文本框 6">
            <a:extLst>
              <a:ext uri="{FF2B5EF4-FFF2-40B4-BE49-F238E27FC236}">
                <a16:creationId xmlns:a16="http://schemas.microsoft.com/office/drawing/2014/main" id="{E254C6CF-2BDE-1151-7346-D944BC018941}"/>
              </a:ext>
            </a:extLst>
          </p:cNvPr>
          <p:cNvSpPr txBox="1"/>
          <p:nvPr/>
        </p:nvSpPr>
        <p:spPr>
          <a:xfrm>
            <a:off x="2139326" y="5735867"/>
            <a:ext cx="7516464" cy="369332"/>
          </a:xfrm>
          <a:prstGeom prst="rect">
            <a:avLst/>
          </a:prstGeom>
          <a:noFill/>
        </p:spPr>
        <p:txBody>
          <a:bodyPr wrap="square" rtlCol="0">
            <a:spAutoFit/>
          </a:bodyPr>
          <a:lstStyle/>
          <a:p>
            <a:pPr algn="ctr"/>
            <a:r>
              <a:rPr lang="en-US" altLang="zh-CN" sz="1800" kern="100" dirty="0">
                <a:solidFill>
                  <a:schemeClr val="accent3">
                    <a:lumMod val="75000"/>
                  </a:schemeClr>
                </a:solidFill>
                <a:effectLst/>
                <a:latin typeface="Times New Roman" panose="02020603050405020304" pitchFamily="18" charset="0"/>
                <a:ea typeface="宋体" panose="02010600030101010101" pitchFamily="2" charset="-122"/>
              </a:rPr>
              <a:t>V</a:t>
            </a:r>
            <a:r>
              <a:rPr lang="zh-CN" altLang="zh-CN" sz="18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rPr>
              <a:t>通道直方图均衡化处理</a:t>
            </a:r>
            <a:r>
              <a:rPr lang="zh-CN" altLang="en-US" sz="18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rPr>
              <a:t>对于机器学习检测有一定的提升效果</a:t>
            </a:r>
            <a:r>
              <a:rPr lang="zh-CN" altLang="en-US"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solidFill>
                <a:schemeClr val="accent3">
                  <a:lumMod val="75000"/>
                </a:schemeClr>
              </a:solidFill>
            </a:endParaRPr>
          </a:p>
        </p:txBody>
      </p:sp>
    </p:spTree>
    <p:extLst>
      <p:ext uri="{BB962C8B-B14F-4D97-AF65-F5344CB8AC3E}">
        <p14:creationId xmlns:p14="http://schemas.microsoft.com/office/powerpoint/2010/main" val="383443571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406897" y="752801"/>
            <a:ext cx="3863323" cy="456129"/>
          </a:xfrm>
        </p:spPr>
        <p:txBody>
          <a:bodyPr/>
          <a:lstStyle/>
          <a:p>
            <a:pPr>
              <a:lnSpc>
                <a:spcPct val="120000"/>
              </a:lnSpc>
            </a:pPr>
            <a:r>
              <a:rPr lang="zh-CN" altLang="en-US" dirty="0"/>
              <a:t>直方图均衡化的作用</a:t>
            </a:r>
          </a:p>
        </p:txBody>
      </p:sp>
      <p:sp>
        <p:nvSpPr>
          <p:cNvPr id="2" name="文本框 1">
            <a:extLst>
              <a:ext uri="{FF2B5EF4-FFF2-40B4-BE49-F238E27FC236}">
                <a16:creationId xmlns:a16="http://schemas.microsoft.com/office/drawing/2014/main" id="{C5257549-D9A1-2E70-C9EE-89AF4A2093D2}"/>
              </a:ext>
            </a:extLst>
          </p:cNvPr>
          <p:cNvSpPr txBox="1"/>
          <p:nvPr/>
        </p:nvSpPr>
        <p:spPr>
          <a:xfrm>
            <a:off x="1406897" y="2000446"/>
            <a:ext cx="3863323" cy="646331"/>
          </a:xfrm>
          <a:prstGeom prst="rect">
            <a:avLst/>
          </a:prstGeom>
          <a:noFill/>
        </p:spPr>
        <p:txBody>
          <a:bodyPr wrap="square" rtlCol="0">
            <a:spAutoFit/>
          </a:bodyPr>
          <a:lstStyle/>
          <a:p>
            <a:pPr algn="ct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未经过</a:t>
            </a:r>
            <a:r>
              <a:rPr lang="en-US" altLang="zh-CN" sz="1800" kern="100" dirty="0">
                <a:effectLst/>
                <a:latin typeface="Times New Roman" panose="02020603050405020304" pitchFamily="18" charset="0"/>
                <a:ea typeface="宋体" panose="02010600030101010101" pitchFamily="2" charset="-122"/>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通道直方图均衡化处理图片识别结果</a:t>
            </a:r>
            <a:endParaRPr lang="zh-CN" altLang="en-US" dirty="0"/>
          </a:p>
        </p:txBody>
      </p:sp>
      <p:sp>
        <p:nvSpPr>
          <p:cNvPr id="4" name="文本框 3">
            <a:extLst>
              <a:ext uri="{FF2B5EF4-FFF2-40B4-BE49-F238E27FC236}">
                <a16:creationId xmlns:a16="http://schemas.microsoft.com/office/drawing/2014/main" id="{9D10FABE-1C51-AFB1-7CC1-0629D94122F4}"/>
              </a:ext>
            </a:extLst>
          </p:cNvPr>
          <p:cNvSpPr txBox="1"/>
          <p:nvPr/>
        </p:nvSpPr>
        <p:spPr>
          <a:xfrm>
            <a:off x="7113263" y="2000446"/>
            <a:ext cx="3736707" cy="646331"/>
          </a:xfrm>
          <a:prstGeom prst="rect">
            <a:avLst/>
          </a:prstGeom>
          <a:noFill/>
        </p:spPr>
        <p:txBody>
          <a:bodyPr wrap="square" rtlCol="0">
            <a:spAutoFit/>
          </a:bodyPr>
          <a:lstStyle/>
          <a:p>
            <a:pPr algn="ct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经过</a:t>
            </a:r>
            <a:r>
              <a:rPr lang="en-US" altLang="zh-CN" sz="1800" kern="100" dirty="0">
                <a:effectLst/>
                <a:latin typeface="Times New Roman" panose="02020603050405020304" pitchFamily="18" charset="0"/>
                <a:ea typeface="宋体" panose="02010600030101010101" pitchFamily="2" charset="-122"/>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通道直方图均衡化处理图片识别结果</a:t>
            </a:r>
            <a:endParaRPr lang="zh-CN" altLang="en-US" dirty="0"/>
          </a:p>
        </p:txBody>
      </p:sp>
      <p:sp>
        <p:nvSpPr>
          <p:cNvPr id="7" name="文本框 6">
            <a:extLst>
              <a:ext uri="{FF2B5EF4-FFF2-40B4-BE49-F238E27FC236}">
                <a16:creationId xmlns:a16="http://schemas.microsoft.com/office/drawing/2014/main" id="{E254C6CF-2BDE-1151-7346-D944BC018941}"/>
              </a:ext>
            </a:extLst>
          </p:cNvPr>
          <p:cNvSpPr txBox="1"/>
          <p:nvPr/>
        </p:nvSpPr>
        <p:spPr>
          <a:xfrm>
            <a:off x="2139326" y="5735867"/>
            <a:ext cx="7516464" cy="646331"/>
          </a:xfrm>
          <a:prstGeom prst="rect">
            <a:avLst/>
          </a:prstGeom>
          <a:noFill/>
        </p:spPr>
        <p:txBody>
          <a:bodyPr wrap="square" rtlCol="0">
            <a:spAutoFit/>
          </a:bodyPr>
          <a:lstStyle/>
          <a:p>
            <a:pPr algn="ctr"/>
            <a:r>
              <a:rPr lang="en-US" altLang="zh-CN"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V</a:t>
            </a:r>
            <a:r>
              <a:rPr lang="zh-CN" altLang="zh-CN"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通道直方图均衡化处理可能导致过度突出一些不必要的小边缘和噪点，从而影响轮廓的准确提取。</a:t>
            </a:r>
            <a:endParaRPr lang="zh-CN" altLang="en-US"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146" name="Picture 2">
            <a:extLst>
              <a:ext uri="{FF2B5EF4-FFF2-40B4-BE49-F238E27FC236}">
                <a16:creationId xmlns:a16="http://schemas.microsoft.com/office/drawing/2014/main" id="{1D5DEEF9-A9D5-85B6-10BE-293B089C85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226" y="2646778"/>
            <a:ext cx="5383428" cy="2862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3">
            <a:extLst>
              <a:ext uri="{FF2B5EF4-FFF2-40B4-BE49-F238E27FC236}">
                <a16:creationId xmlns:a16="http://schemas.microsoft.com/office/drawing/2014/main" id="{31CBFBA0-FC1C-3275-AD44-4E7EF9B1BBF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91534" y="2646777"/>
            <a:ext cx="5383429" cy="286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164744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文本框 3"/>
          <p:cNvSpPr txBox="1"/>
          <p:nvPr/>
        </p:nvSpPr>
        <p:spPr>
          <a:xfrm>
            <a:off x="2569302" y="2609419"/>
            <a:ext cx="7053116" cy="830997"/>
          </a:xfrm>
          <a:prstGeom prst="rect">
            <a:avLst/>
          </a:prstGeom>
          <a:noFill/>
        </p:spPr>
        <p:txBody>
          <a:bodyPr wrap="square" rtlCol="0">
            <a:spAutoFit/>
            <a:scene3d>
              <a:camera prst="orthographicFront"/>
              <a:lightRig rig="threePt" dir="t"/>
            </a:scene3d>
            <a:sp3d contourW="12700"/>
          </a:bodyPr>
          <a:lstStyle/>
          <a:p>
            <a:pPr algn="ctr">
              <a:defRPr/>
            </a:pPr>
            <a:r>
              <a:rPr lang="zh-CN" altLang="en-US" sz="4800" b="1" dirty="0">
                <a:solidFill>
                  <a:schemeClr val="bg1"/>
                </a:solidFill>
                <a:latin typeface="思源黑体" panose="020B0500000000000000" pitchFamily="34" charset="-122"/>
                <a:ea typeface="思源黑体" panose="020B0500000000000000" pitchFamily="34" charset="-122"/>
              </a:rPr>
              <a:t>感谢聆听   批评指正</a:t>
            </a:r>
          </a:p>
        </p:txBody>
      </p:sp>
      <p:grpSp>
        <p:nvGrpSpPr>
          <p:cNvPr id="5" name="组合 4"/>
          <p:cNvGrpSpPr/>
          <p:nvPr/>
        </p:nvGrpSpPr>
        <p:grpSpPr>
          <a:xfrm>
            <a:off x="5295265" y="620395"/>
            <a:ext cx="1610360" cy="1582420"/>
            <a:chOff x="8760" y="720"/>
            <a:chExt cx="2536" cy="2492"/>
          </a:xfrm>
        </p:grpSpPr>
        <p:grpSp>
          <p:nvGrpSpPr>
            <p:cNvPr id="6" name="组合 5"/>
            <p:cNvGrpSpPr/>
            <p:nvPr/>
          </p:nvGrpSpPr>
          <p:grpSpPr>
            <a:xfrm>
              <a:off x="8760" y="720"/>
              <a:ext cx="2536" cy="2492"/>
              <a:chOff x="5387350" y="978500"/>
              <a:chExt cx="1390484" cy="1390482"/>
            </a:xfrm>
          </p:grpSpPr>
          <p:sp>
            <p:nvSpPr>
              <p:cNvPr id="8" name="椭圆 7"/>
              <p:cNvSpPr/>
              <p:nvPr>
                <p:custDataLst>
                  <p:tags r:id="rId5"/>
                </p:custDataLst>
              </p:nvPr>
            </p:nvSpPr>
            <p:spPr>
              <a:xfrm>
                <a:off x="5387350" y="978500"/>
                <a:ext cx="1390484" cy="1390482"/>
              </a:xfrm>
              <a:prstGeom prst="ellipse">
                <a:avLst/>
              </a:prstGeom>
              <a:solidFill>
                <a:srgbClr val="244C89"/>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0" name="椭圆 9"/>
              <p:cNvSpPr/>
              <p:nvPr>
                <p:custDataLst>
                  <p:tags r:id="rId6"/>
                </p:custDataLst>
              </p:nvPr>
            </p:nvSpPr>
            <p:spPr>
              <a:xfrm>
                <a:off x="5482497" y="1078924"/>
                <a:ext cx="1195789" cy="1195788"/>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grpSp>
        <p:pic>
          <p:nvPicPr>
            <p:cNvPr id="11" name="图片 10" descr="校徽"/>
            <p:cNvPicPr>
              <a:picLocks noChangeAspect="1"/>
            </p:cNvPicPr>
            <p:nvPr>
              <p:custDataLst>
                <p:tags r:id="rId4"/>
              </p:custDataLst>
            </p:nvPr>
          </p:nvPicPr>
          <p:blipFill>
            <a:blip r:embed="rId10"/>
            <a:stretch>
              <a:fillRect/>
            </a:stretch>
          </p:blipFill>
          <p:spPr>
            <a:xfrm>
              <a:off x="8883" y="845"/>
              <a:ext cx="2277" cy="2277"/>
            </a:xfrm>
            <a:prstGeom prst="ellipse">
              <a:avLst/>
            </a:prstGeom>
          </p:spPr>
        </p:pic>
      </p:grpSp>
      <p:sp>
        <p:nvSpPr>
          <p:cNvPr id="22" name="矩形 259"/>
          <p:cNvSpPr>
            <a:spLocks noChangeArrowheads="1"/>
          </p:cNvSpPr>
          <p:nvPr>
            <p:custDataLst>
              <p:tags r:id="rId1"/>
            </p:custDataLst>
          </p:nvPr>
        </p:nvSpPr>
        <p:spPr bwMode="auto">
          <a:xfrm>
            <a:off x="2763520" y="3559175"/>
            <a:ext cx="6664325" cy="6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ctr" fontAlgn="base">
              <a:lnSpc>
                <a:spcPct val="120000"/>
              </a:lnSpc>
              <a:spcBef>
                <a:spcPct val="0"/>
              </a:spcBef>
              <a:spcAft>
                <a:spcPct val="0"/>
              </a:spcAft>
              <a:buFont typeface="Arial" panose="020B0604020202020204" pitchFamily="34" charset="0"/>
              <a:buNone/>
            </a:pPr>
            <a:r>
              <a:rPr lang="zh-CN" altLang="en-US" sz="1800" dirty="0">
                <a:solidFill>
                  <a:schemeClr val="bg1"/>
                </a:solidFill>
                <a:latin typeface="思源黑体" panose="020B0500000000000000" pitchFamily="34" charset="-122"/>
                <a:ea typeface="思源黑体" panose="020B0500000000000000" pitchFamily="34" charset="-122"/>
              </a:rPr>
              <a:t>数字图像处理</a:t>
            </a:r>
            <a:r>
              <a:rPr lang="en-US" sz="1800" dirty="0">
                <a:solidFill>
                  <a:schemeClr val="bg1"/>
                </a:solidFill>
                <a:latin typeface="思源黑体" panose="020B0500000000000000" pitchFamily="34" charset="-122"/>
                <a:ea typeface="思源黑体" panose="020B0500000000000000" pitchFamily="34" charset="-122"/>
              </a:rPr>
              <a:t> </a:t>
            </a:r>
            <a:r>
              <a:rPr lang="zh-CN" altLang="en-US" sz="1800" dirty="0">
                <a:solidFill>
                  <a:schemeClr val="bg1"/>
                </a:solidFill>
                <a:latin typeface="思源黑体" panose="020B0500000000000000" pitchFamily="34" charset="-122"/>
                <a:ea typeface="思源黑体" panose="020B0500000000000000" pitchFamily="34" charset="-122"/>
              </a:rPr>
              <a:t>课程设计</a:t>
            </a:r>
          </a:p>
          <a:p>
            <a:pPr algn="ctr" fontAlgn="base">
              <a:lnSpc>
                <a:spcPct val="120000"/>
              </a:lnSpc>
              <a:spcBef>
                <a:spcPct val="0"/>
              </a:spcBef>
              <a:spcAft>
                <a:spcPct val="0"/>
              </a:spcAft>
              <a:buFont typeface="Arial" panose="020B0604020202020204" pitchFamily="34" charset="0"/>
              <a:buNone/>
            </a:pPr>
            <a:r>
              <a:rPr lang="en-US" altLang="zh-CN" sz="1800" dirty="0">
                <a:solidFill>
                  <a:schemeClr val="bg1"/>
                </a:solidFill>
                <a:latin typeface="思源黑体" panose="020B0500000000000000" pitchFamily="34" charset="-122"/>
                <a:ea typeface="思源黑体" panose="020B0500000000000000" pitchFamily="34" charset="-122"/>
              </a:rPr>
              <a:t>2024.05.11</a:t>
            </a:r>
          </a:p>
        </p:txBody>
      </p:sp>
      <p:sp>
        <p:nvSpPr>
          <p:cNvPr id="7" name="PA_圆角矩形 31"/>
          <p:cNvSpPr/>
          <p:nvPr>
            <p:custDataLst>
              <p:tags r:id="rId2"/>
            </p:custDataLst>
          </p:nvPr>
        </p:nvSpPr>
        <p:spPr>
          <a:xfrm>
            <a:off x="2499360" y="4532630"/>
            <a:ext cx="4406265" cy="41148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223762"/>
                </a:solidFill>
                <a:latin typeface="+mn-ea"/>
                <a:sym typeface="+mn-ea"/>
              </a:rPr>
              <a:t>答辩人：邹易航 人工智能</a:t>
            </a:r>
            <a:r>
              <a:rPr lang="en-US" altLang="zh-CN" sz="1400" b="1" dirty="0">
                <a:solidFill>
                  <a:srgbClr val="223762"/>
                </a:solidFill>
                <a:latin typeface="+mn-ea"/>
                <a:sym typeface="+mn-ea"/>
              </a:rPr>
              <a:t>1</a:t>
            </a:r>
            <a:r>
              <a:rPr lang="zh-CN" altLang="en-US" sz="1400" b="1" dirty="0">
                <a:solidFill>
                  <a:srgbClr val="223762"/>
                </a:solidFill>
                <a:latin typeface="+mn-ea"/>
                <a:sym typeface="+mn-ea"/>
              </a:rPr>
              <a:t>班 第</a:t>
            </a:r>
            <a:r>
              <a:rPr lang="en-US" altLang="zh-CN" sz="1400" b="1" dirty="0">
                <a:solidFill>
                  <a:srgbClr val="223762"/>
                </a:solidFill>
                <a:latin typeface="+mn-ea"/>
                <a:sym typeface="+mn-ea"/>
              </a:rPr>
              <a:t>17</a:t>
            </a:r>
            <a:r>
              <a:rPr lang="zh-CN" altLang="en-US" sz="1400" b="1" dirty="0">
                <a:solidFill>
                  <a:srgbClr val="223762"/>
                </a:solidFill>
                <a:latin typeface="+mn-ea"/>
                <a:sym typeface="+mn-ea"/>
              </a:rPr>
              <a:t>组 </a:t>
            </a:r>
            <a:endParaRPr lang="zh-CN" altLang="en-US" sz="1400" b="1" dirty="0">
              <a:solidFill>
                <a:srgbClr val="223762"/>
              </a:solidFill>
              <a:latin typeface="+mn-ea"/>
            </a:endParaRPr>
          </a:p>
        </p:txBody>
      </p:sp>
      <p:sp>
        <p:nvSpPr>
          <p:cNvPr id="17" name="PA_圆角矩形 31"/>
          <p:cNvSpPr/>
          <p:nvPr>
            <p:custDataLst>
              <p:tags r:id="rId3"/>
            </p:custDataLst>
          </p:nvPr>
        </p:nvSpPr>
        <p:spPr>
          <a:xfrm>
            <a:off x="7141210" y="4531360"/>
            <a:ext cx="2480945" cy="41275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223762"/>
                </a:solidFill>
                <a:latin typeface="+mn-ea"/>
              </a:rPr>
              <a:t>指导老师：杜娟，齐雯</a:t>
            </a: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7A251DB4-07BE-47B3-8E91-FE7746FF9ADF"/>
  <p:tag name="ISPRING_SCORM_RATE_SLIDES" val="1"/>
  <p:tag name="ISPRING_SCORM_PASSING_SCORE" val="100.0000000000"/>
  <p:tag name="ISPRINGONLINEFOLDERID" val="0"/>
  <p:tag name="ISPRINGONLINEFOLDERPATH" val="Content List"/>
  <p:tag name="ISPRINGCLOUDFOLDERID" val="0"/>
  <p:tag name="ISPRINGCLOUDFOLDERPATH" val="Repository"/>
  <p:tag name="ISPRING_RESOURCE_PATHS_HASH_PRESENTER" val="dda1421ddb3ffb98a498c34c1cc89e982539480"/>
  <p:tag name="ISPRING_PRESENTATION_TITLE" val="毕业论文答辩PPT-13"/>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CBerJKWn+5mToEAADhDgAAHQAAAHVuaXZlcnNhbC9jb21tb25fbWVzc2FnZXMubG5nrVf/bts2EP6/QN+BEFBgA7a0HdCiGBIHtMTYQmTJleg42Q8IjMTYRCgxkyi32V99mj7YnmRHym7spoOkdIBtmLTvu9Pdd9+Rx6cfC4k2vKqFKk+c10evHMTLTOWiXJ04C3r28zsH1ZqVOZOq5CdOqRx0Onr+7FiyctWwFYfvz58hdFzwuoZlPTKrhzUS+YkzH6duNJvj8CoNokmUjv2JM3JVccfKexSolfqj+uGXt+8+vn7z9sfjl1vLPkDJDAfBIRSySG9e9QAKaRwFKaCRIA3JJXVG5nOYXbSggR8SZ7T9Msx6HpMLZ2Q+O+0WcUxCmiaB75HUT9IwojYXAaHEc0ZXqkFrtuFIK7QR/APSaw6V1KLiqJYitz9kCjbKhnc586IZ9sM0JgmNfZf6UeiMElVV9z9ZWNbotarAXY1yUbNryXPrEzhjf7+reA2umQZOIXjptYB/qoKJ8qjTdYyXfjhJaRQFSUpCb7fjjEiZI69ixs1AlBgnJAaAitW8eoJtallmzRGWchjC1J9MA3hTE8JUrNYS3npoHHMCNZjzsssKOEJiYFeSLKPYM0kDV4ihO1bXH1SVH/Bjv1BdwH7oRkBBl+6BU4OxA4YaC1COquKZ7gKbkSTBE5KOo0sgMvRdNMQiOod2Ox9icUUSaBGSdNmE+MKfYEN402I7/u/6K2OGzvIesSwDO5O+jVBNDTsmpdAFttPqYV4S8n4BVfNx8I0ubgEhsbZeK7HhEEKVd7MHNMUlnuHP+4X/W3qG/YB4KRDKi5YptWJnnDGQh1JpxKRU5gHAL8s3rMw4uuYZa4Dw9/C3XOT2b6bYNpK/GvE3YnorLS+2qhR65PLF0cDQDoTscYRFU0N4WvPiTne53gv/KVEYYv9nCH0efaD/pG3WsQ8dMBaqvwUBeTaCBIoq+1v54Rk4mrc9D6LglzcDfIbRFiBU6KkYF5CqgxAuIIUD7JdknPgUhu2SX9dCd84xW9m2QN8uagYHB8k1fyjsNb9R0BOSs007zkDWbKU7C7o3LQ+0h/o0gJBDAFy1IxEgpSgg/rwH5mJGdhloJePgSZaqkbltUSlurWxAbpuCP57DN5Uq7K5k9Y68rWqdfk8U7cPFrdP5gHmSEBy709TFoUvMEc40jexpBFw0MQU0SQM8NuZAyoLpbA1aeaOaMu8J1J7CPHKGAWyb0oSzKlv/8+lzT4yvIml30Xb310Eg0GFGiMgXsN9DpXn9ZxcIxeNDO7voY7U9te7seh5iqQ90+F9Oh6zV9EIVsHXU7RfYti0aphS70xkQMrH8U02VdY/efYQZjs9BVOz5yhnNWHULikSVkoNQbKoNAfUw7w8Xh0ZLUfIhtt+n6eaBqT9PsefZWxQ0nxTZbTu8cjgrZtvrlITrVF8wd4pDELyv8Hgu9EBAOyN28gKN3q4f2nzzeGR8WdX2Mnr8cu9u+i9QSwMEFAACAAgAgXqySgn+cEwJAwAAtQoAACcAAAB1bml2ZXJzYWwvZmxhc2hfcHVibGlzaGluZ19zZXR0aW5ncy54bWzVVt1SGjEUvucpMul4KYsWq2UWnI7A1FGBEdrqlRM2BzZjNtlusiBe9Wn6YH2SnmwEYbTOqnWm5QZyfr7znZ8cEh7eJJLMIDNCqybdqdYoARVpLtS0Sb+MutsHlBjLFGdSK2hSpSk5bFXCNB9LYeIhWIumhiCMMo3UNmlsbdoIgvl8XhUmzZxWy9wivqlGOgnSDAwoC1mQSrbAL7tIwdBWpUJI6EVnmucSiOBIQQnHjsmuZCamgTcbs+h6mulc8SMtdUay6bhJ39WKz9LGQ7VFAsolZ1oodGLbYJwLx4fJobgFEoOYxkh8v07JXHAbN+lu3aGgdfAQpcD2OTCHcqQxGWXv4BOwjDPL/NHHs3BjzVLgRXyhWCKiEWqIy79J26Orz5eDzvnpce/katTvn46OB55E4RNs4oTBZqAQCek8i2AVJ2TWsihG3ugzYdJAGKyLlmYTrTbIuTMZa4m1L7xwHpIx8B5LYK0bw2uhumi5Q8kEE5GLJv2UCSYpEZZJEa2cTT42Vtii/911S4JYOGdAzob0PryvThSzzMA6raXGuJpHrW86l5wsdE6kuAZiNcH88wR/xUDWm0MmmU4KKY6PJUYKjDgTMAd+WNT0DvBPgS4xRJKjJ05uKsH6CN9zcUvGMNEZ4gKb4YyjXBiPX30WcMqMuQdlS45bw9PjdufquNfuXGy5BBmfMRU9ExwbDklq3wKfYe5KYwgpNVZzDQIrE7HcQNEfLnhhVibN0rFjNiua7hpZgGK7BfLxmKiIcDSFyqEsYMQU0UouCIvwChk3QjOhc4MSPywe2ryIoHclQhVUp3iDMFjGISuDVtvZfV/f+7B/8LFRDX79+Ln9pNPdWhlI5qL5vXL05GJZLZeHdy4M3C54fDXYLP83N8PgvPO1TF17nYtRqW52hqXg+mWs+idlrM79KhusrbFSFHAPTf3Sw00kRSIs8L85Yi8Yk1f9g/gZe5sxecOcX3M1/puU/Wn1GNl4fYTBo88jp0mEEgkWwm3E1ZuqtVev4XvmUVWlgmibT81W5TdQSwMEFAACAAgAgXqyStqYtsO1AgAAVQoAACEAAAB1bml2ZXJzYWwvZmxhc2hfc2tpbl9zZXR0aW5ncy54bWyVVm1P4zAM/n6/Ytp9p/cKOqlMggESEnegA/E9bb02WppMiTtu//6cNKVJt25lEdLy+Hkcx7E9UrPmcvFpNktzJZR+BkQuS2ORDpvx4nKeNYhKnuVKIkg8k0rXTMwXn6/v7EoTxzylUlvQpPniPic0K5ZDf8yF+0yR+DN+Xtg1JshVvWFy96BKdZaxfF1q1ciCZHfuMyardhvQgsu1vcSvi+Xt6AGCG7xHqKOYvt/ZNU2y0WAM2JDOb+06qRIsAzEtwwNNf9Tx2w9kW244OtnVV7vGZBtWQpzk49HRw5D3DwsQ/iFRv53bNUoVbAf6Q87Vptl8SKBVaRMaa44/4rtGKFZQ+5Hg5otdJwX2Qvagk6/g0/Pjxq6A5L+GfZ/adtVKPNm8DgaCffRMwAJ1A2nS7VqbqdTbY4PUH7BYMWGIEEI96YmCfmKN6dzEWM/7C29cFqEvj/SUVyWaGpZtwIG7GO/5y+W1mxWh03csiFDD1oNBiD3YM/9QXveYAdgznwUv4FGK3X4EQ1Mr6h75mvnnPJ5/soJktC28tdt1VnvSg21dE4TqgY5TqwIWxobzwmuw75YmDmtDSvZiSiXb8pIhV/K35WU7dxmTJgODr7XDlZUiRwGHCs7FSGM6TJfbx/XorXFBtj8L/eXa/Qxpil/OGSLLq5p+lsx85nXUJpSYeXJYYeck0UHfy5UKNO7sMVHN9Br0i1Ji6jFSIZip7lXbXGP0NAlykCaHs5x6J4fSL5s6A31Lr8bBdFmOwZZY8bIS9IevHN6gGChGrK0UK/InGX+vywDwRQBM51VXte2mtdSNQC5gC13zB4C78tjdUkNVOlZwV/gAKwxLziOTatLPir5W4hkS4Af4rxRW5HhgmVD2yDLjbhZ1fjeG+1iiwdyNM1t84SRze19LkWOy72eQQPvv5H9QSwMEFAACAAgAgXqySnjWJgneAgAAxgkAACYAAAB1bml2ZXJzYWwvaHRtbF9wdWJsaXNoaW5nX3NldHRpbmdzLnhtbM1WwU4bMRC95yssVxzJAqWFRpugigSBoCQiaQsnNFk7WQuvvbW9CeHUr+mH9Us6XpOQCBotCKrmkux45s17M+PZxAe3mSQTbqzQqkm361uUcJVoJtS4Sb8Ojjb3KbEOFAOpFW9SpSk5aNXivBhKYdM+dw5dLUEYZRu5a9LUubwRRdPptC5sbvyploVDfFtPdBblhluuHDdRLmGGX26Wc0tbtRohcTB90ayQnAiGFJTw7EAeu0zSKHgNIbkZG10odqilNsSMh036bqv8zH0CUltkXHlttoVGb3YNYEx4OiD74o6TlItxirz3dimZCubSJt3Z9SjoHT1GKbGDBPAohxq1KHcPn3EHDByEx5DP8Vtn54ZgYjMFmUgGeEK8/CZtD66Pr3qdi7OT89PrQbd7NjjpBRJlTLSKE0eriWIkpAuT8EWeGJyDJEXeGDMCaXkcLZvmbiOtVsj5ZzLUEktfRlEyQqZy1qSfjQBJiXAgRbI4dWDG3B0JiRp87HZ9pBx9AAx6kxSM5cuJ5ifWVzFpfdeFZGSmCyLFDSdOE1RUZPgr5WS53GRkdFZaJVhHrBSMk4ngU84OyirdA/4t0RWmyAqMxFHMJXchw49C3JEhH2mDuBwmOLRoFzbg158FnIO1D6Aw57jRPztpd65Pztudyw0vENgEVPJMcGwhz3L3FviA2pXGFFJqrOYSBFYmgcLysj9MsNKtiszKuVOYlE33jSxBsd0C+QRMPEhwtIQqeFXABBTRSs4IJHgprB+hidCFRUsYlgBtX0QwhBKhSqpjXFCYzDBuqqBtbe+83/3wcW//U6Me/f75a3Nt0P2i6Enw2cKmOFy7Khbr4vGdiyN/Q5++7M4U/+qu9y4636pU6rxzOajUn06/Ely3ilf3tIrXRVhOvaXFVIkCbpZxWGO4W6TIhOPsNYfmBY1fv+XDWLxS499Qxdrx/X9FhKfFS33lLR5HT/7NqKF99b9Xq/YHUEsDBBQAAgAIAIF6skrb73U9lgEAAB8GAAAfAAAAdW5pdmVyc2FsL2h0bWxfc2tpbl9zZXR0aW5ncy5qc42Uy27CMBBF93xF5G4rRF+gdtcWkCqxqFR2VRdOGEKEY0e2k0IR/97Y4WE7kxbPBt8c3xkP8ux6Ub1IQqKnaGd/2/27v7caGE3LEq59nXXoudGJYtkC5lkOLONAAqQ6Hj3J+zOBGRNuTePth7FVjh8R5suSMuXiBWIhEU1hhysE/Ea0DXb45yT2nHs1d3IaHZdaC95PBNfAdZ8LmVPLkKuXqQn3igEsKpANOrALQZc0Ac90ZFcXeXZ8GJlwuUTkBeXbmUhFP6bJOpWi5IuGntrl0qttAbL+y9eHAh9HrxPPjmVKv2nIw8R3UxPdZCFBKTjkHU5MoDCjMbA/WxSgnnH7QgFdZSrTR/r5xoRLFzSFVpfaJdQNrb0u5TRsdEPcDk14BKNbkJdYiaIsLuGkSE1HWmi75yeUCbrIeNpw44EJlDPFGtuu7p0vej82QbwnJIIntMKeX941O0JQIaD2xtIxrwryzjA7hokcySEQDZtWFT5HdDhHzP4zIlRrmqzyejzUw7FuA5VrkHMhWF391391hrl6+19QSwMEFAACAAgAgXqySh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IF6skqw7V1XbgAAAHYAAAAcAAAAdW5pdmVyc2FsL2xvY2FsX3NldHRpbmdzLnhtbA3MPQ7CMAxA4b2nsLyXn42haTc2EBLlAFZjUCTHRomF4PZ4e8OnNy3fKvDh1otpwuPugMC6WS76SvhYz+MJoTtpJjHlhGoIyzxMYhvJnd0DdngL/bitXCOcr1RD3hp3ViePM4xwieezcMb9PPwBUEsDBBQAAgAIAIOZ9U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IF6skoXqeFBbwEAAPsCAAApAAAAdW5pdmVyc2FsL3NraW5fY3VzdG9taXphdGlvbl9zZXR0aW5ncy54bWyNUttq3DAQfc9XiPzAShrdDO6Cbi5+SUKykGd3rRbTRC6WQkvRx1dOsmy22dBqnmbOmTPM6LTp+xTtU8rz4/R7yNMc70LOU/yWthcItfv5YV5ulpBCTptj5X6K4/yzj1/ntVarKQ9xHJbRrmjaYtQ9P6SkVk7VjBlGkWSeeoWc57ZiDbgGbMUcJbbd/CXxoruEfYj5vGq7OUHfN/QxhSX3cQy/tnDKfgudbvB5Gcap8tJWsDXKYWpxbA3ECJfcF6oBQCDLHXG4SNlITZDHjGMoRlGggAjnpBGFSMqhZl0jqgrzjUBMMkZdoZ7WbqS1cdQWCQ0huk7zqrGl64zEGBFCgLnCBXQGo8qGqqFBrQcEBwZE0UYTBaiznelY8c4Ly5GiXmBcmDGA8fG4x+3enutY/e91Duf8h+DZLziLrt7anDFXu39alkrehccfD0MO6MuQQj9+ury59Xf+aqd3/fXV5as3n318YK6GrZt/6O8/UEsDBBQAAgAIAIJ6skqlSRcUvw0AAAIjAAAXAAAAdW5pdmVyc2FsL3VuaXZlcnNhbC5wbmftWmlYkunef8xOTqXZOpYZtGrnVC6hmaZQWdmmdaaZadxtXEkRFdeRpXKmTlPKlBXu2BkdZzIhRTEXoEVlTFyOTjAIirlAiqCGgsj2Pth0vrzX+/X9xIfn5rqX333/+W+//31d9+2L/r5Wq2xXAQBgdeb0iS8AYLkfAJgnf7YCHCFtdOOBP2aYL3yPA5RuuwmwszzmmN8xAKghrtZe+RvYX5l4OgADAGteGz8zNvrXSADYSTpz4tiXGaGyQdad+HQde3b78bU7Pru63GXlzpqze9LWLXv0m/afIevWH3N+2OAa+/jfOWU5J/fvvxG+bu2s75XHZTk5X2mttZeUGpyT6IKXasytmXYkXcE4QmX/YNGcWeoBw3Rz4sUt6dHK3+50sdJFONVIPS+0OWP84WVH7/k/LoFSATFxXUejIQcx92Qs1U17ayj87j5zcLguX/37YrqHa6ZG1jC60gwcGeAUjyXHfiAbtA6lRmDZ2/GWyCFa3ufLjMubikktM69WJ+0AO0erDEWksR+Mi8a/XQ62sTa7jMPNm5f2afsMbHsdT4HttTSXJfSddcYNQ+4aITITxAQxQUwQE8QEMUFMEBPEBDFBTBATxAQxQUwQE8QEMUFMkP93SEZFJRm/ODJOCmNmzAy/bNuKbkmaZUzjpm/DeHEUUXBPIxN5BFz5nub9ix87T9UWbJgddyKoT7EZmIGAmGpyt4aZLyWw2ToXyBwH1hPshV1wDuU7vA0WNQ4hs4zI2SlaD7yGpUW02am66RWoocJ+YUPEYgQH9R1HKTp+14KxOFk1uwo+If6uUubx1jIid9vv2MlL5KaFmVsILVN/j4gdGxmFGhYqiLipiOmg7sEC5NiACqp77wsNoDNCKIWB3Si6v+qxNe79vagqaFYzpInoldv5XJ5C1o45TCd7ZmUOERWbrob6rQBe+HXVCDzWnH9Exc9XJTU3iF2RgxjnBtm2lvCd7dly6YmrlPSB0kuclxIJwqDuNP9PHXYaRlZzNAPCsn4JgMMqaWSGtgmxLT1CqbM8F00mLPaT8ejEg9m3U4PuSsgE/fCLOG4RlSYvTjhQpGmz3BnNX8Q3J9yX7yKOHqR4DsZLiw1CUow6jcGOkkvS1bSIbs0a/OFlQOIpsQ2KytJ/h4Vn+vfR0RWp3R3CdqKa9MQF8oDyB+4eXUIXb8esCZVI7b7/pT++yyzds6zk8ufx1l9KWnI9EP7uGtyRa/kWXMuzYo0u/MqKSExQlwqTyEyguaUEVBZpXntmkHe0Kr/aQdYIJSPDUR4p0EZZFOfQ02kqKJaiCSF62zuWnfHDQAij0BK4pnCmXvTv2dXjN6CsrutuLBB4ojQH2jIuNh1XnRwoFQTmVUXcssP0MrxnvFv3+cEPY4qm0M1bHDk8nXMcM4y6rOBlu20gZ+ZKSfRTzWvL3UqqbYGBOUn3/niqCoNgyFPiMmpRRIHF7Kr65gy3LQAguQKX7vS+5eWL1DT0eUqic60go5Ki1k+HXqo2/7MuPg6fx9L5EQ5aTErfWgoZKYLqxx34a86iaQvriBJ8gKTAnzB4caQXN/ZH52FlCi+EdamcPRpymmQFHG1QnxzxIOR2hA5YBCFLMK7o/jMCwmqjfjlG/X4pBQ4dEAxA6xK6rn/Y7+6sDq8QyA2Y2PvdhM2Fdk4hhwBgsFudfSGvzpoOindV/zR5wMJ94+ixiR+FNsgs//o14f21UUPJSe9dYc4FPfdPk6NeDhY2/Blv8ZWgx7WAOXQDRicja90qw9DoLVLFqV+qFYGUxfN5VfJdlaHtNZUwVzNgWNgy13duNnPU45zmyr5qTHcodrbtOTRhe3t238PnOQTtKJR4OI3/9z5l8WT+4w7LE9yYsqmu6wuLQHcUwblzMF/n9To7VcBB1azYBXuQL4i6GRj3rP7mXkWqlQ1dylHH31oH+/VPCg0aHB+SDm3siuLoPtjzxs9sLdQu8li5uifklRO1ZsB7154sxL96uFl95biah1yPGOI7J1Q7aIj1DUlvw8eeRFWeFmCe8NW8QUDTcGq/FOWR5TBUJnwxJc3UdH7jc78+fsWmOH5LU8S8zOIl5fobz0ElPcg8d0Ix/+R6q1D+G1EQ2l4ssW21w4RQbIXF//CGWKtfWuMTZzUig344wvBJjJQ3ZJvSsGGZbsSGlYFWE/FzP/s+Ysxzg2wQGn6PIx6MvtAs+CiJpR3PkriI0LwtmFBaPFNOCnGQ3QH9NlXcxDmUIGjKpW1TiIxfx36yzl2EVo3mK0rgbDNBqjKB5vRoA0K0G1Twpuc5souRhLUpb2svlcvM5KHfedkrsmeoBF0cdooKum/M8aZ4AFjkxASUS+6wA3t8Vdzh8NKGX8ZHS9KHGpVYMel7GtZbVXL9ZWCMduICoWkqbnvSBiQhviKVQqOo0hJdsu+iglgL56PVlg/EGr64ngE7WkBXstNKGI0tHl2okhm1PeiPjtpDyiPDfxq1bC5kzGUEK4mqat0EPSwvhQ8AKZnyRskIpq0oX1IsPYrnPIsUcHsjs7YjzHNBPTiRcFZHlBKaSiDSKz+4Ci4ncZr6oxNrvWU1fXD+WWlwDKUnXxYk6+2NPHCB60kbhB0O8PlZlxgrE1UpB1Ec3C5ZXpwx5oYF+duepU79VxWOGraGG1jKtF+yzIfD+sBuL4kQ+ox6mcBRIWMPDuE1sk7mipUTWDq3yoluft+t7Axa4HFqwAEMNilnPoB7SBQde5CLD64UTb9OuuyT14guxyXnbLY+a4PdSjOn54ak/Vjn/WLwHJEdZcgQBXb283Ybgy6kT9FaVCgpxiQiLKYjrHzED9fRsFkXERa6CEJhKrwj7eKz0JJauHWU1SYlmu/x9acDC1Al0kMCd6qlh6srX2AN55bFxoc11qaCJ99Tdrh967U35D3qaUmdXfPURmTWtWYShNipn2XWP6qknjHaualcctu9vpQor7Z2CbGYjxt2ic53JsfU4qo6JjEzrHrcpg5bOoc3zy3O1LwJxF9Cko12hvGQFNWAnN/t45MnS8vlU2SZKNEjWGdD5+c+eQa3I+HSJbtiHqrv7AEt1OA0hFV0+WJHt4qeL7Q6wNfxzIacvCEk3Sgu7sCFTwYfzXH/y+CCy4VPX76oXTPJ23eKC1xBbM9PG7xuUJp/wQvCKAlXxPZ/Gbl5mxTzjZglkQ64S1kN0j2wxIL+6uv9SkXwo3oCVNUbKd+KJAfvAr3+b6L2qWvVEaSSnaieHbDN6i40HtMrfIYprHOc+fV/+Z4ajMTN5H1DrV6SlslrOITrFinKTcMqxXBAKTbtuzVUm/y07gKYH3n8BLby4c5Re5+8zB+6PKmyZ7EMN2Rj1eMOoXsfvPHUXYuK1cwcvlkQ2/EImNzHzoUtfmH3YDdmIAXyglDBjqi1n5uoYek1n1KBYvhl9gJ29htFseKJudLVNQBdvSXuJ2dRZYNkqieL8SpyKqw6+dLHWAOLl6wSHnkVRPO4I20racuPHH0BzoUblM9N63mBLFE9vwNK4dCnP3zcKAUrpz6b9PH/D7XI7K18KR9AHShGiGC2bWMZdGh5gUgnT7cxNo2veExl/cI3jbfnMrwi8UcpHamB+Lc93xt1M5e5OFHpBIFjN5NhkIg1XKptKGdtuD/NsNodtjyfefPvCt0OwXz0v54t2u4Vfj0A/eilA9PEzKLuufl/3Atg0q+g/WGaSKaItS2mpEd54EycodTzaKCY6ay6XYfIXQtSzSphe9reWsRnTVeNJDDVFZM/dWsnQSMQOerVPYTQwmlVJ+FDHjlYu8BG5FqMe6n7yq75VrDf+IEs+JV4D0Hhc/BA81+JzNNbJcTMeow2ntN8C3KNfIlrnHI3Lh0DMpoSr1eQEQfXqhVkg5aZPYUU9GsnL7OatNg83cRzaN9P/935I79SSWF4DzjaKwaJAK3Qza+iMm1Vr62MyWS9kcAZMufI8uypGsQgj6Wfz/AsxSJPv/i5L2Lcvm901rG8cwVQJpBSWRDykdKqTxwb2L0S3RlgjNV7GqOB8Jvvr6ll61Nu2qsu264HHXTJFC2rl3xECZagxXNqe5XfR4afB2vPdlyij5HifwcpPgZtUBarLfN0x5R6jF+LtwR/zmcZ5CFkn/vsMe2Fq467jOmGExNYLvlJshdl+DpQYscA6ThJg95h5N9GJ1DjFdY3dEaWGjJTYllhcOhyjW6aYLhnniQnuu4e/udETfIGBfzVXD62GPI6a5MZcDgC2orpczj2sY7K5LBXuEBSwsK4KVPox2C9qFZZnaQoqtE46QjIIbctxrz4+nkqoW2HmWG+ZBrrAP86YYQStt5D4k2657gVAB5ZWENaJXmSb+Gvd6FU3GL76ixH8SF/Ae7GZusman9j0flCcfUh5OH7HGR/JkAsVG0YajOUi72g/UvCYCR6tT3bTlWq2Jcgf0/6DZQFOh3ZwE8KU7+5PPJTZKa0usHxAi3MGrxEOPC0r2R2Fg5siKpUOhxLn8jFF9iOPpRPurenv3sgOk54tzrseYaiy13k7lzQsJ8jyOjzBCt+L76830XmkvCdUMDUuW/8v64oCU4tM8dDjTeTi5PJoR8G4qhtS+8rqh0le6aZmoTgpbXgVPIsy2AMqgvG2d5o8W7FdHLsQQN+4TW0fcOyTw87VEO9kXrdO2vCc+NbkJGzxsWSq+IdMBv1NOvOHYPZH+cFpe/cowTGiTMn/U9Qjoff+B9QSwMEFAACAAgAgnqyStIooFJKAAAAawAAABsAAAB1bml2ZXJzYWwvdW5pdmVyc2FsLnBuZy54bWyzsa/IzVEoSy0qzszPs1Uy1DNQsrfj5bIpKEoty0wtV6gAihnpGUCAkkIlKrc8M6UkAyhkYG6OEMxIzUzPKLFVsjCwgAvqA80EAFBLAQIAABQAAgAIAEOUV0cNwDEewAEAANoDAAAPAAAAAAAAAAEAAAAAAAAAAABub25lL3BsYXllci54bWxQSwECAAAUAAIACACBerJKWn+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
  <p:tag name="ISPRING_SCORM_ENDPOINT" val="&lt;endpoint&gt;&lt;enable&gt;0&lt;/enable&gt;&lt;lrs&gt;http://&lt;/lrs&gt;&lt;auth&gt;0&lt;/auth&gt;&lt;login&gt;&lt;/login&gt;&lt;password&gt;&lt;/password&gt;&lt;key&gt;&lt;/key&gt;&lt;name&gt;&lt;/name&gt;&lt;email&gt;&lt;/email&gt;&lt;/endpoint&gt;&#10;"/>
  <p:tag name="KSO_WPP_MARK_KEY" val="cf6b008d-cefb-4eae-827d-8be428467615"/>
  <p:tag name="COMMONDATA" val="eyJoZGlkIjoiZjBiZWU0MWE1ZmYxNWY2ZWIzMTU1NjA0N2RhODk5N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30.9,&quot;left&quot;:33.2,&quot;top&quot;:240.3,&quot;width&quot;:954.2}"/>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F0F2F4"/>
      </a:lt2>
      <a:accent1>
        <a:srgbClr val="D90944"/>
      </a:accent1>
      <a:accent2>
        <a:srgbClr val="243B7A"/>
      </a:accent2>
      <a:accent3>
        <a:srgbClr val="5188E1"/>
      </a:accent3>
      <a:accent4>
        <a:srgbClr val="F65083"/>
      </a:accent4>
      <a:accent5>
        <a:srgbClr val="FFFFFF"/>
      </a:accent5>
      <a:accent6>
        <a:srgbClr val="FFFFFF"/>
      </a:accent6>
      <a:hlink>
        <a:srgbClr val="FFFFFF"/>
      </a:hlink>
      <a:folHlink>
        <a:srgbClr val="FFFFFF"/>
      </a:folHlink>
    </a:clrScheme>
    <a:fontScheme name="自定义 7">
      <a:majorFont>
        <a:latin typeface="Segoe U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482</Words>
  <Application>Microsoft Office PowerPoint</Application>
  <PresentationFormat>宽屏</PresentationFormat>
  <Paragraphs>86</Paragraphs>
  <Slides>17</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Söhne</vt:lpstr>
      <vt:lpstr>思源黑体</vt:lpstr>
      <vt:lpstr>字由点字倔强黑</vt:lpstr>
      <vt:lpstr>Agency FB</vt:lpstr>
      <vt:lpstr>Arial</vt:lpstr>
      <vt:lpstr>Calibri</vt:lpstr>
      <vt:lpstr>Times New Roman</vt:lpstr>
      <vt:lpstr>Office 主题</vt:lpstr>
      <vt:lpstr>PowerPoint 演示文稿</vt:lpstr>
      <vt:lpstr>PowerPoint 演示文稿</vt:lpstr>
      <vt:lpstr>PowerPoint 演示文稿</vt:lpstr>
      <vt:lpstr>总体概述</vt:lpstr>
      <vt:lpstr>PowerPoint 演示文稿</vt:lpstr>
      <vt:lpstr>图片V通道直方图均衡化</vt:lpstr>
      <vt:lpstr>拓展：视频V通道直方图均衡化</vt:lpstr>
      <vt:lpstr>PowerPoint 演示文稿</vt:lpstr>
      <vt:lpstr>机器学习方法检测流程图</vt:lpstr>
      <vt:lpstr>机器学习方法效果</vt:lpstr>
      <vt:lpstr>纯CV方法检测流程图</vt:lpstr>
      <vt:lpstr>纯CV方法检测效果</vt:lpstr>
      <vt:lpstr>PowerPoint 演示文稿</vt:lpstr>
      <vt:lpstr>PowerPoint 演示文稿</vt:lpstr>
      <vt:lpstr>直方图均衡化的作用</vt:lpstr>
      <vt:lpstr>直方图均衡化的作用</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
  <cp:lastModifiedBy/>
  <cp:revision>35</cp:revision>
  <dcterms:created xsi:type="dcterms:W3CDTF">2021-05-12T03:31:00Z</dcterms:created>
  <dcterms:modified xsi:type="dcterms:W3CDTF">2024-06-28T04:40:52Z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623F246B291E4DBA8BE1AC806248AB56_13</vt:lpwstr>
  </property>
  <property fmtid="{D5CDD505-2E9C-101B-9397-08002B2CF9AE}" pid="3" name="KSOProductBuildVer">
    <vt:lpwstr>2052-12.1.0.16729</vt:lpwstr>
  </property>
</Properties>
</file>